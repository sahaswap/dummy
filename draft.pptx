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2" showSpecialPlsOnTitleSld="0" saveSubsetFonts="1" autoCompressPictures="0">
  <p:sldMasterIdLst>
    <p:sldMasterId id="2147483710" r:id="rId4"/>
    <p:sldMasterId id="2147483779" r:id="rId5"/>
  </p:sldMasterIdLst>
  <p:notesMasterIdLst>
    <p:notesMasterId r:id="rId16"/>
  </p:notesMasterIdLst>
  <p:handoutMasterIdLst>
    <p:handoutMasterId r:id="rId17"/>
  </p:handoutMasterIdLst>
  <p:sldIdLst>
    <p:sldId id="2147482810" r:id="rId6"/>
    <p:sldId id="2147482811" r:id="rId7"/>
    <p:sldId id="2147482812" r:id="rId8"/>
    <p:sldId id="2147482816" r:id="rId9"/>
    <p:sldId id="2147482815" r:id="rId10"/>
    <p:sldId id="2147482817" r:id="rId11"/>
    <p:sldId id="2147482819" r:id="rId12"/>
    <p:sldId id="2147482820" r:id="rId13"/>
    <p:sldId id="2147482818" r:id="rId14"/>
    <p:sldId id="2147482821" r:id="rId15"/>
  </p:sldIdLst>
  <p:sldSz cx="12192000" cy="6858000"/>
  <p:notesSz cx="7315200" cy="9601200"/>
  <p:defaultTextStyle>
    <a:defPPr>
      <a:defRPr lang="en-US"/>
    </a:defPPr>
    <a:lvl1pPr marL="0" algn="l" defTabSz="457135" rtl="0" eaLnBrk="1" latinLnBrk="0" hangingPunct="1">
      <a:defRPr sz="1800" kern="1200">
        <a:solidFill>
          <a:schemeClr val="tx1"/>
        </a:solidFill>
        <a:latin typeface="+mn-lt"/>
        <a:ea typeface="+mn-ea"/>
        <a:cs typeface="+mn-cs"/>
      </a:defRPr>
    </a:lvl1pPr>
    <a:lvl2pPr marL="457135" algn="l" defTabSz="457135" rtl="0" eaLnBrk="1" latinLnBrk="0" hangingPunct="1">
      <a:defRPr sz="1800" kern="1200">
        <a:solidFill>
          <a:schemeClr val="tx1"/>
        </a:solidFill>
        <a:latin typeface="+mn-lt"/>
        <a:ea typeface="+mn-ea"/>
        <a:cs typeface="+mn-cs"/>
      </a:defRPr>
    </a:lvl2pPr>
    <a:lvl3pPr marL="914269" algn="l" defTabSz="457135" rtl="0" eaLnBrk="1" latinLnBrk="0" hangingPunct="1">
      <a:defRPr sz="1800" kern="1200">
        <a:solidFill>
          <a:schemeClr val="tx1"/>
        </a:solidFill>
        <a:latin typeface="+mn-lt"/>
        <a:ea typeface="+mn-ea"/>
        <a:cs typeface="+mn-cs"/>
      </a:defRPr>
    </a:lvl3pPr>
    <a:lvl4pPr marL="1371404" algn="l" defTabSz="457135" rtl="0" eaLnBrk="1" latinLnBrk="0" hangingPunct="1">
      <a:defRPr sz="1800" kern="1200">
        <a:solidFill>
          <a:schemeClr val="tx1"/>
        </a:solidFill>
        <a:latin typeface="+mn-lt"/>
        <a:ea typeface="+mn-ea"/>
        <a:cs typeface="+mn-cs"/>
      </a:defRPr>
    </a:lvl4pPr>
    <a:lvl5pPr marL="1828539" algn="l" defTabSz="457135" rtl="0" eaLnBrk="1" latinLnBrk="0" hangingPunct="1">
      <a:defRPr sz="1800" kern="1200">
        <a:solidFill>
          <a:schemeClr val="tx1"/>
        </a:solidFill>
        <a:latin typeface="+mn-lt"/>
        <a:ea typeface="+mn-ea"/>
        <a:cs typeface="+mn-cs"/>
      </a:defRPr>
    </a:lvl5pPr>
    <a:lvl6pPr marL="2285674" algn="l" defTabSz="457135" rtl="0" eaLnBrk="1" latinLnBrk="0" hangingPunct="1">
      <a:defRPr sz="1800" kern="1200">
        <a:solidFill>
          <a:schemeClr val="tx1"/>
        </a:solidFill>
        <a:latin typeface="+mn-lt"/>
        <a:ea typeface="+mn-ea"/>
        <a:cs typeface="+mn-cs"/>
      </a:defRPr>
    </a:lvl6pPr>
    <a:lvl7pPr marL="2742809" algn="l" defTabSz="457135" rtl="0" eaLnBrk="1" latinLnBrk="0" hangingPunct="1">
      <a:defRPr sz="1800" kern="1200">
        <a:solidFill>
          <a:schemeClr val="tx1"/>
        </a:solidFill>
        <a:latin typeface="+mn-lt"/>
        <a:ea typeface="+mn-ea"/>
        <a:cs typeface="+mn-cs"/>
      </a:defRPr>
    </a:lvl7pPr>
    <a:lvl8pPr marL="3199944" algn="l" defTabSz="457135" rtl="0" eaLnBrk="1" latinLnBrk="0" hangingPunct="1">
      <a:defRPr sz="1800" kern="1200">
        <a:solidFill>
          <a:schemeClr val="tx1"/>
        </a:solidFill>
        <a:latin typeface="+mn-lt"/>
        <a:ea typeface="+mn-ea"/>
        <a:cs typeface="+mn-cs"/>
      </a:defRPr>
    </a:lvl8pPr>
    <a:lvl9pPr marL="3657078" algn="l" defTabSz="457135"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FSB Alternative Strategy" id="{DA900286-3BA7-491E-AB37-1A7510184B00}">
          <p14:sldIdLst>
            <p14:sldId id="2147482810"/>
            <p14:sldId id="2147482811"/>
            <p14:sldId id="2147482812"/>
            <p14:sldId id="2147482816"/>
            <p14:sldId id="2147482815"/>
            <p14:sldId id="2147482817"/>
            <p14:sldId id="2147482819"/>
            <p14:sldId id="2147482820"/>
            <p14:sldId id="2147482818"/>
            <p14:sldId id="2147482821"/>
          </p14:sldIdLst>
        </p14:section>
      </p14:sectionLst>
    </p:ext>
    <p:ext uri="{EFAFB233-063F-42B5-8137-9DF3F51BA10A}">
      <p15:sldGuideLst xmlns:p15="http://schemas.microsoft.com/office/powerpoint/2012/main">
        <p15:guide id="1" orient="horz" pos="286" userDrawn="1">
          <p15:clr>
            <a:srgbClr val="A4A3A4"/>
          </p15:clr>
        </p15:guide>
        <p15:guide id="2" orient="horz" pos="4034" userDrawn="1">
          <p15:clr>
            <a:srgbClr val="A4A3A4"/>
          </p15:clr>
        </p15:guide>
        <p15:guide id="3" orient="horz" pos="1146" userDrawn="1">
          <p15:clr>
            <a:srgbClr val="A4A3A4"/>
          </p15:clr>
        </p15:guide>
        <p15:guide id="4" orient="horz" pos="3776" userDrawn="1">
          <p15:clr>
            <a:srgbClr val="A4A3A4"/>
          </p15:clr>
        </p15:guide>
        <p15:guide id="5" orient="horz" pos="962" userDrawn="1">
          <p15:clr>
            <a:srgbClr val="A4A3A4"/>
          </p15:clr>
        </p15:guide>
        <p15:guide id="6" pos="2136" userDrawn="1">
          <p15:clr>
            <a:srgbClr val="A4A3A4"/>
          </p15:clr>
        </p15:guide>
        <p15:guide id="7" pos="7296" userDrawn="1">
          <p15:clr>
            <a:srgbClr val="A4A3A4"/>
          </p15:clr>
        </p15:guide>
        <p15:guide id="8" pos="5647" userDrawn="1">
          <p15:clr>
            <a:srgbClr val="A4A3A4"/>
          </p15:clr>
        </p15:guide>
        <p15:guide id="9" pos="385" userDrawn="1">
          <p15:clr>
            <a:srgbClr val="A4A3A4"/>
          </p15:clr>
        </p15:guide>
        <p15:guide id="10" pos="3895" userDrawn="1">
          <p15:clr>
            <a:srgbClr val="A4A3A4"/>
          </p15:clr>
        </p15:guide>
        <p15:guide id="11" pos="2029" userDrawn="1">
          <p15:clr>
            <a:srgbClr val="A4A3A4"/>
          </p15:clr>
        </p15:guide>
        <p15:guide id="12" pos="3784" userDrawn="1">
          <p15:clr>
            <a:srgbClr val="A4A3A4"/>
          </p15:clr>
        </p15:guide>
        <p15:guide id="13" pos="5539" userDrawn="1">
          <p15:clr>
            <a:srgbClr val="A4A3A4"/>
          </p15:clr>
        </p15:guide>
        <p15:guide id="14" orient="horz" pos="476" userDrawn="1">
          <p15:clr>
            <a:srgbClr val="A4A3A4"/>
          </p15:clr>
        </p15:guide>
        <p15:guide id="15" orient="horz" pos="131" userDrawn="1">
          <p15:clr>
            <a:srgbClr val="A4A3A4"/>
          </p15:clr>
        </p15:guide>
        <p15:guide id="16" pos="428" userDrawn="1">
          <p15:clr>
            <a:srgbClr val="A4A3A4"/>
          </p15:clr>
        </p15:guide>
        <p15:guide id="17" pos="2515" userDrawn="1">
          <p15:clr>
            <a:srgbClr val="A4A3A4"/>
          </p15:clr>
        </p15:guide>
        <p15:guide id="18" pos="5081" userDrawn="1">
          <p15:clr>
            <a:srgbClr val="A4A3A4"/>
          </p15:clr>
        </p15:guide>
      </p15:sldGuideLst>
    </p:ext>
    <p:ext uri="{2D200454-40CA-4A62-9FC3-DE9A4176ACB9}">
      <p15:notesGuideLst xmlns:p15="http://schemas.microsoft.com/office/powerpoint/2012/main">
        <p15:guide id="1" orient="horz" pos="2974" userDrawn="1">
          <p15:clr>
            <a:srgbClr val="A4A3A4"/>
          </p15:clr>
        </p15:guide>
        <p15:guide id="2" pos="2254" userDrawn="1">
          <p15:clr>
            <a:srgbClr val="A4A3A4"/>
          </p15:clr>
        </p15:guide>
        <p15:guide id="3" orient="horz" pos="3024" userDrawn="1">
          <p15:clr>
            <a:srgbClr val="A4A3A4"/>
          </p15:clr>
        </p15:guide>
        <p15:guide id="4" pos="2304"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DD99615-2B44-B04B-5253-BE53354EAEF2}" name="Adisheshan, Vinay" initials="" userId="S::vadisheshan@deloitte.com::9a8028e6-ff73-419d-b62d-b398b4dcda69" providerId="AD"/>
  <p188:author id="{E62C461A-9C72-541A-7FEC-11073DE98E50}" name="Ragi, Keerti" initials="RK" userId="S::kragi@deloitte.com::bc3f4d12-3893-44a0-bc37-4cf2eeb3575e" providerId="AD"/>
  <p188:author id="{9A8DB821-6868-DCF8-CB93-0989A76A9382}" name="Levy, Megan" initials="LM" userId="S::mlevy@deloitte.com::e0a38604-7368-4945-8022-d4303b91f86b" providerId="AD"/>
  <p188:author id="{C147A02E-9E2C-5F6A-5AE2-237386B87AF9}" name="Patterson, Charles" initials="CP" userId="S::chpatterson@deloitte.com::5cfe2f88-97f5-4740-b937-7bd34cae4a15" providerId="AD"/>
  <p188:author id="{01FF0639-2AB7-2255-C457-7CDC4D9FC23D}" name="Parascandola, Matthew J" initials="PM" userId="S::maparascandola@deloitte.com::61be2e03-7a46-490b-b386-7c719fbceb59" providerId="AD"/>
  <p188:author id="{69FA4739-C078-0151-CEBA-839EA50F0F2F}" name="Ohrnberger, Sam" initials="SO" userId="S::sohrnberger@deloitte.com::914d6187-1f24-4b87-a137-b415289aaa3b" providerId="AD"/>
  <p188:author id="{FAB40444-14F5-4C6C-DE4A-E65C2F95F80B}" name="Mani Nemmikanti" initials="MN" userId="S::mnemmikanti@greendotcorp.com::dc783698-6e58-45df-a4ad-1011e103789f" providerId="AD"/>
  <p188:author id="{723B8244-C1CF-5C05-F749-E3E990AE4064}" name="Miriam Ratkovicova" initials="MR" userId="Miriam Ratkovicova" providerId="None"/>
  <p188:author id="{2CC1B54E-08EE-A36E-7E56-908DDCF85BD2}" name="Vinay Adisheshan" initials="VA" userId="Vinay Adisheshan" providerId="None"/>
  <p188:author id="{B175E052-140A-0B41-C930-E369E122D2E5}" name="Shah, Harsh" initials="SH" userId="S::harshshah5@deloitte.com::44d8bf43-82cd-45d8-bc8d-1cf0ed513bb8" providerId="AD"/>
  <p188:author id="{49BBC353-2154-D2F7-8DA4-2D1CD69DBA5D}" name="Gerwel, Amanda" initials="AG" userId="S::agerwel@deloitte.com::18a3526a-61bf-4652-a7e7-203ef1617667" providerId="AD"/>
  <p188:author id="{FD1ECD53-601F-35BC-E00B-27DD023B8079}" name="Kamjula, Venkata Dhanumjaya" initials="KV" userId="S::vkamjula@deloitte.com::5092e6fa-c5f2-4c71-bd8e-0b4e7b11ad0f" providerId="AD"/>
  <p188:author id="{A66E3063-FF6F-1B54-842B-960EE09DEE7F}" name="Varakantham, Kirankumar Reddy" initials="VKR" userId="S::kvarakantham@deloitte.com::6947a739-29f4-4601-96ed-3fef19cc8c8a" providerId="AD"/>
  <p188:author id="{7FA8D06C-BE44-B5DA-430A-2DB91036D0F6}" name="Pospisil, Scott" initials="PS" userId="S::spospisil@deloitte.com::066e5e3d-4ef6-4908-984b-d4c6fe946605" providerId="AD"/>
  <p188:author id="{E1E5F271-7D6F-2209-913C-7A9B16347541}" name="Mishra, Deepshikha" initials="DM" userId="S::deepsmishra@deloitte.com::a149e470-56b7-460f-adc1-c677fcaccac2" providerId="AD"/>
  <p188:author id="{BE791C8A-4874-213B-37B0-01FB833B3BB2}" name="Mittal, Neha" initials="NM" userId="S::nehamittal8@deloitte.com::1f388262-1c0f-45a6-b51c-6030fc2cad26" providerId="AD"/>
  <p188:author id="{5158A79E-42D5-49EE-764E-F6AA3D929375}" name="Avrett, Jordan" initials="AJ" userId="S::javrett@deloitte.com::883e29b3-b7d9-42e5-a8ac-fa6f3d05e64e" providerId="AD"/>
  <p188:author id="{FFF22DAF-3CE8-3B11-5888-85BBD983B71D}" name="Nemmikanti, Manichandra Sripaad" initials="MN" userId="S::mnemmikanti@deloitte.com::71444420-4b8a-4912-abf7-7f09f3f893bc" providerId="AD"/>
  <p188:author id="{0A1F1BB6-9168-0FAF-481E-DE1254FBD9DF}" name="Beltran, Alyssa M" initials="BM" userId="S::alysbeltran@deloitte.com::f7fe6375-4f14-4047-83de-e3c5f469a25e" providerId="AD"/>
  <p188:author id="{8BEACCE7-D7F4-134F-76FB-4A5ADD70FCC8}" name="Matthew Parascandola" initials="MP" userId="Matthew Parascandola" providerId="None"/>
  <p188:author id="{EC387EEC-FCAA-88AF-40C7-5476C4D0C8EE}" name="Thomas, Jonathan" initials="JT" userId="S::jthomas@deloitte.com::b3aa9137-2fac-4280-bc21-84857be24bac" providerId="AD"/>
  <p188:author id="{A03D6DF5-549D-5DC5-7EB9-451039D00E56}" name="Georgieff, Alexander" initials="GA" userId="S::ageorgieff@deloitte.com::7ce15916-02b2-4ba9-b13c-d60d2cc51c90" providerId="AD"/>
  <p188:author id="{A17971F6-A8A3-6BCF-15FE-6B22A455BEC1}" name="Burgoyne, Paul" initials="PB" userId="S::pburgoyne@deloitte.com::d321eb82-07e4-418e-9955-2b129eb02f39" providerId="AD"/>
  <p188:author id="{1495E1FA-463B-4700-D880-D00D450781D7}" name="Panthena, Meghana" initials="PM" userId="S::mpanthena@deloitte.com::760a7517-b064-4732-b8da-261c701f8c5f"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Shah, Harsh" initials="SH" lastIdx="6" clrIdx="6">
    <p:extLst>
      <p:ext uri="{19B8F6BF-5375-455C-9EA6-DF929625EA0E}">
        <p15:presenceInfo xmlns:p15="http://schemas.microsoft.com/office/powerpoint/2012/main" userId="S::harshshah5@deloitte.com::44d8bf43-82cd-45d8-bc8d-1cf0ed513bb8" providerId="AD"/>
      </p:ext>
    </p:extLst>
  </p:cmAuthor>
  <p:cmAuthor id="1" name="Geetika Aggarwal" initials="GA" lastIdx="3" clrIdx="0">
    <p:extLst>
      <p:ext uri="{19B8F6BF-5375-455C-9EA6-DF929625EA0E}">
        <p15:presenceInfo xmlns:p15="http://schemas.microsoft.com/office/powerpoint/2012/main" userId="Geetika Aggarwal" providerId="None"/>
      </p:ext>
    </p:extLst>
  </p:cmAuthor>
  <p:cmAuthor id="8" name="Beltran, Alyssa M" initials="BAM" lastIdx="28" clrIdx="7">
    <p:extLst>
      <p:ext uri="{19B8F6BF-5375-455C-9EA6-DF929625EA0E}">
        <p15:presenceInfo xmlns:p15="http://schemas.microsoft.com/office/powerpoint/2012/main" userId="S::alysbeltran@deloitte.com::f7fe6375-4f14-4047-83de-e3c5f469a25e" providerId="AD"/>
      </p:ext>
    </p:extLst>
  </p:cmAuthor>
  <p:cmAuthor id="2" name="Melissa" initials="M" lastIdx="13" clrIdx="1">
    <p:extLst>
      <p:ext uri="{19B8F6BF-5375-455C-9EA6-DF929625EA0E}">
        <p15:presenceInfo xmlns:p15="http://schemas.microsoft.com/office/powerpoint/2012/main" userId="S::mejiang@smbcgroup.com::589ece8b-6999-48d3-aaa8-e4cf974d215a" providerId="AD"/>
      </p:ext>
    </p:extLst>
  </p:cmAuthor>
  <p:cmAuthor id="9" name="Georgieff, Alexander" initials="GA" lastIdx="57" clrIdx="8">
    <p:extLst>
      <p:ext uri="{19B8F6BF-5375-455C-9EA6-DF929625EA0E}">
        <p15:presenceInfo xmlns:p15="http://schemas.microsoft.com/office/powerpoint/2012/main" userId="S::ageorgieff@deloitte.com::7ce15916-02b2-4ba9-b13c-d60d2cc51c90" providerId="AD"/>
      </p:ext>
    </p:extLst>
  </p:cmAuthor>
  <p:cmAuthor id="3" name="Michelle Goodsir" initials="MG" lastIdx="31" clrIdx="2">
    <p:extLst>
      <p:ext uri="{19B8F6BF-5375-455C-9EA6-DF929625EA0E}">
        <p15:presenceInfo xmlns:p15="http://schemas.microsoft.com/office/powerpoint/2012/main" userId="S::mgoodsir@smbcgroup.com::c2219d77-9a91-4792-bebb-4895c7f6299b" providerId="AD"/>
      </p:ext>
    </p:extLst>
  </p:cmAuthor>
  <p:cmAuthor id="10" name="Imamovic, Dan" initials="ID" lastIdx="1" clrIdx="9">
    <p:extLst>
      <p:ext uri="{19B8F6BF-5375-455C-9EA6-DF929625EA0E}">
        <p15:presenceInfo xmlns:p15="http://schemas.microsoft.com/office/powerpoint/2012/main" userId="S::dimamovic@deloitte.com::5ae07d97-78d2-4540-97a2-f087ac7dbb31" providerId="AD"/>
      </p:ext>
    </p:extLst>
  </p:cmAuthor>
  <p:cmAuthor id="4" name="Momoka Uchida" initials="MU" lastIdx="1" clrIdx="3">
    <p:extLst>
      <p:ext uri="{19B8F6BF-5375-455C-9EA6-DF929625EA0E}">
        <p15:presenceInfo xmlns:p15="http://schemas.microsoft.com/office/powerpoint/2012/main" userId="S::mouchida@smbcgroup.com::e1f390d0-b077-4a99-a5b6-8776ef6e62eb" providerId="AD"/>
      </p:ext>
    </p:extLst>
  </p:cmAuthor>
  <p:cmAuthor id="5" name="Andre Burrell" initials="AB" lastIdx="20" clrIdx="4">
    <p:extLst>
      <p:ext uri="{19B8F6BF-5375-455C-9EA6-DF929625EA0E}">
        <p15:presenceInfo xmlns:p15="http://schemas.microsoft.com/office/powerpoint/2012/main" userId="S::aburrell@smbcgroup.com::03f4e5ae-4f29-45e7-a0c5-0f7b17c0e56b" providerId="AD"/>
      </p:ext>
    </p:extLst>
  </p:cmAuthor>
  <p:cmAuthor id="6" name="Singhvi, Kshitij" initials="SK" lastIdx="4" clrIdx="5">
    <p:extLst>
      <p:ext uri="{19B8F6BF-5375-455C-9EA6-DF929625EA0E}">
        <p15:presenceInfo xmlns:p15="http://schemas.microsoft.com/office/powerpoint/2012/main" userId="S::ksinghvi@deloitte.com::a881725e-c4c1-44c7-9d44-1110088e66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C5C5"/>
    <a:srgbClr val="92D050"/>
    <a:srgbClr val="D6EDBD"/>
    <a:srgbClr val="F2F2F2"/>
    <a:srgbClr val="A3B7B1"/>
    <a:srgbClr val="7A988D"/>
    <a:srgbClr val="A1B2D4"/>
    <a:srgbClr val="3C4D47"/>
    <a:srgbClr val="D7D5CE"/>
    <a:srgbClr val="D7DDD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8" d="100"/>
          <a:sy n="58" d="100"/>
        </p:scale>
        <p:origin x="964" y="68"/>
      </p:cViewPr>
      <p:guideLst>
        <p:guide orient="horz" pos="286"/>
        <p:guide orient="horz" pos="4034"/>
        <p:guide orient="horz" pos="1146"/>
        <p:guide orient="horz" pos="3776"/>
        <p:guide orient="horz" pos="962"/>
        <p:guide pos="2136"/>
        <p:guide pos="7296"/>
        <p:guide pos="5647"/>
        <p:guide pos="385"/>
        <p:guide pos="3895"/>
        <p:guide pos="2029"/>
        <p:guide pos="3784"/>
        <p:guide pos="5539"/>
        <p:guide orient="horz" pos="476"/>
        <p:guide orient="horz" pos="131"/>
        <p:guide pos="428"/>
        <p:guide pos="2515"/>
        <p:guide pos="5081"/>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974"/>
        <p:guide pos="2254"/>
        <p:guide orient="horz" pos="3024"/>
        <p:guide pos="230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slide" Target="slides/slide10.xml"/><Relationship Id="rId23" Type="http://schemas.microsoft.com/office/2018/10/relationships/authors" Target="authors.xml"/><Relationship Id="rId10" Type="http://schemas.openxmlformats.org/officeDocument/2006/relationships/slide" Target="slides/slide5.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293" tIns="48146" rIns="96293" bIns="48146" rtlCol="0"/>
          <a:lstStyle>
            <a:lvl1pPr algn="l">
              <a:defRPr sz="1200"/>
            </a:lvl1pPr>
          </a:lstStyle>
          <a:p>
            <a:endParaRPr lang="en-US"/>
          </a:p>
        </p:txBody>
      </p:sp>
      <p:sp>
        <p:nvSpPr>
          <p:cNvPr id="3" name="Date Placeholder 2"/>
          <p:cNvSpPr>
            <a:spLocks noGrp="1"/>
          </p:cNvSpPr>
          <p:nvPr>
            <p:ph type="dt" sz="quarter" idx="1"/>
          </p:nvPr>
        </p:nvSpPr>
        <p:spPr>
          <a:xfrm>
            <a:off x="4143587" y="0"/>
            <a:ext cx="3169920" cy="480060"/>
          </a:xfrm>
          <a:prstGeom prst="rect">
            <a:avLst/>
          </a:prstGeom>
        </p:spPr>
        <p:txBody>
          <a:bodyPr vert="horz" lIns="96293" tIns="48146" rIns="96293" bIns="48146" rtlCol="0"/>
          <a:lstStyle>
            <a:lvl1pPr algn="r">
              <a:defRPr sz="1200"/>
            </a:lvl1pPr>
          </a:lstStyle>
          <a:p>
            <a:fld id="{4A2C85E8-413D-2E4E-B060-5D116F398412}" type="datetimeFigureOut">
              <a:rPr lang="en-US" smtClean="0"/>
              <a:pPr/>
              <a:t>10/2/2026</a:t>
            </a:fld>
            <a:endParaRPr lang="en-US"/>
          </a:p>
        </p:txBody>
      </p:sp>
      <p:sp>
        <p:nvSpPr>
          <p:cNvPr id="4" name="Footer Placeholder 3"/>
          <p:cNvSpPr>
            <a:spLocks noGrp="1"/>
          </p:cNvSpPr>
          <p:nvPr>
            <p:ph type="ftr" sz="quarter" idx="2"/>
          </p:nvPr>
        </p:nvSpPr>
        <p:spPr>
          <a:xfrm>
            <a:off x="0" y="9119473"/>
            <a:ext cx="3169920" cy="480060"/>
          </a:xfrm>
          <a:prstGeom prst="rect">
            <a:avLst/>
          </a:prstGeom>
        </p:spPr>
        <p:txBody>
          <a:bodyPr vert="horz" lIns="96293" tIns="48146" rIns="96293" bIns="48146" rtlCol="0" anchor="b"/>
          <a:lstStyle>
            <a:lvl1pPr algn="l">
              <a:defRPr sz="1200"/>
            </a:lvl1pPr>
          </a:lstStyle>
          <a:p>
            <a:endParaRPr lang="en-US"/>
          </a:p>
        </p:txBody>
      </p:sp>
      <p:sp>
        <p:nvSpPr>
          <p:cNvPr id="5" name="Slide Number Placeholder 4"/>
          <p:cNvSpPr>
            <a:spLocks noGrp="1"/>
          </p:cNvSpPr>
          <p:nvPr>
            <p:ph type="sldNum" sz="quarter" idx="3"/>
          </p:nvPr>
        </p:nvSpPr>
        <p:spPr>
          <a:xfrm>
            <a:off x="4143587" y="9119473"/>
            <a:ext cx="3169920" cy="480060"/>
          </a:xfrm>
          <a:prstGeom prst="rect">
            <a:avLst/>
          </a:prstGeom>
        </p:spPr>
        <p:txBody>
          <a:bodyPr vert="horz" lIns="96293" tIns="48146" rIns="96293" bIns="48146" rtlCol="0" anchor="b"/>
          <a:lstStyle>
            <a:lvl1pPr algn="r">
              <a:defRPr sz="1200"/>
            </a:lvl1pPr>
          </a:lstStyle>
          <a:p>
            <a:fld id="{A907CB86-E2F0-7349-9F25-9F6D5515C262}" type="slidenum">
              <a:rPr lang="en-US" smtClean="0"/>
              <a:pPr/>
              <a:t>‹#›</a:t>
            </a:fld>
            <a:endParaRPr lang="en-US"/>
          </a:p>
        </p:txBody>
      </p:sp>
    </p:spTree>
    <p:extLst>
      <p:ext uri="{BB962C8B-B14F-4D97-AF65-F5344CB8AC3E}">
        <p14:creationId xmlns:p14="http://schemas.microsoft.com/office/powerpoint/2010/main" val="3289661516"/>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293" tIns="48146" rIns="96293" bIns="48146" rtlCol="0"/>
          <a:lstStyle>
            <a:lvl1pPr algn="l">
              <a:defRPr sz="1200"/>
            </a:lvl1pPr>
          </a:lstStyle>
          <a:p>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293" tIns="48146" rIns="96293" bIns="48146" rtlCol="0"/>
          <a:lstStyle>
            <a:lvl1pPr algn="r">
              <a:defRPr sz="1200"/>
            </a:lvl1pPr>
          </a:lstStyle>
          <a:p>
            <a:fld id="{F6DAFEC6-0468-B84A-B25A-166CF509FB0F}" type="datetimeFigureOut">
              <a:rPr lang="en-US" smtClean="0"/>
              <a:pPr/>
              <a:t>10/2/2026</a:t>
            </a:fld>
            <a:endParaRPr lang="en-US"/>
          </a:p>
        </p:txBody>
      </p:sp>
      <p:sp>
        <p:nvSpPr>
          <p:cNvPr id="4" name="Slide Image Placeholder 3"/>
          <p:cNvSpPr>
            <a:spLocks noGrp="1" noRot="1" noChangeAspect="1"/>
          </p:cNvSpPr>
          <p:nvPr>
            <p:ph type="sldImg" idx="2"/>
          </p:nvPr>
        </p:nvSpPr>
        <p:spPr>
          <a:xfrm>
            <a:off x="457200" y="719138"/>
            <a:ext cx="6400800" cy="3600450"/>
          </a:xfrm>
          <a:prstGeom prst="rect">
            <a:avLst/>
          </a:prstGeom>
          <a:noFill/>
          <a:ln w="12700">
            <a:solidFill>
              <a:prstClr val="black"/>
            </a:solidFill>
          </a:ln>
        </p:spPr>
        <p:txBody>
          <a:bodyPr vert="horz" lIns="96293" tIns="48146" rIns="96293" bIns="48146" rtlCol="0" anchor="ctr"/>
          <a:lstStyle/>
          <a:p>
            <a:endParaRPr lang="en-US"/>
          </a:p>
        </p:txBody>
      </p:sp>
      <p:sp>
        <p:nvSpPr>
          <p:cNvPr id="5" name="Notes Placeholder 4"/>
          <p:cNvSpPr>
            <a:spLocks noGrp="1"/>
          </p:cNvSpPr>
          <p:nvPr>
            <p:ph type="body" sz="quarter" idx="3"/>
          </p:nvPr>
        </p:nvSpPr>
        <p:spPr>
          <a:xfrm>
            <a:off x="731520" y="4560571"/>
            <a:ext cx="5852160" cy="4320540"/>
          </a:xfrm>
          <a:prstGeom prst="rect">
            <a:avLst/>
          </a:prstGeom>
        </p:spPr>
        <p:txBody>
          <a:bodyPr vert="horz" lIns="96293" tIns="48146" rIns="96293" bIns="4814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3"/>
            <a:ext cx="3169920" cy="480060"/>
          </a:xfrm>
          <a:prstGeom prst="rect">
            <a:avLst/>
          </a:prstGeom>
        </p:spPr>
        <p:txBody>
          <a:bodyPr vert="horz" lIns="96293" tIns="48146" rIns="96293" bIns="48146" rtlCol="0" anchor="b"/>
          <a:lstStyle>
            <a:lvl1pPr algn="l">
              <a:defRPr sz="1200"/>
            </a:lvl1pPr>
          </a:lstStyle>
          <a:p>
            <a:endParaRPr lang="en-US"/>
          </a:p>
        </p:txBody>
      </p:sp>
      <p:sp>
        <p:nvSpPr>
          <p:cNvPr id="7" name="Slide Number Placeholder 6"/>
          <p:cNvSpPr>
            <a:spLocks noGrp="1"/>
          </p:cNvSpPr>
          <p:nvPr>
            <p:ph type="sldNum" sz="quarter" idx="5"/>
          </p:nvPr>
        </p:nvSpPr>
        <p:spPr>
          <a:xfrm>
            <a:off x="4143587" y="9119473"/>
            <a:ext cx="3169920" cy="480060"/>
          </a:xfrm>
          <a:prstGeom prst="rect">
            <a:avLst/>
          </a:prstGeom>
        </p:spPr>
        <p:txBody>
          <a:bodyPr vert="horz" lIns="96293" tIns="48146" rIns="96293" bIns="48146" rtlCol="0" anchor="b"/>
          <a:lstStyle>
            <a:lvl1pPr algn="r">
              <a:defRPr sz="1200"/>
            </a:lvl1pPr>
          </a:lstStyle>
          <a:p>
            <a:fld id="{57D81762-943F-A74B-AF28-97B52DD827ED}" type="slidenum">
              <a:rPr lang="en-US" smtClean="0"/>
              <a:pPr/>
              <a:t>‹#›</a:t>
            </a:fld>
            <a:endParaRPr lang="en-US"/>
          </a:p>
        </p:txBody>
      </p:sp>
    </p:spTree>
    <p:extLst>
      <p:ext uri="{BB962C8B-B14F-4D97-AF65-F5344CB8AC3E}">
        <p14:creationId xmlns:p14="http://schemas.microsoft.com/office/powerpoint/2010/main" val="1914867462"/>
      </p:ext>
    </p:extLst>
  </p:cSld>
  <p:clrMap bg1="lt1" tx1="dk1" bg2="lt2" tx2="dk2" accent1="accent1" accent2="accent2" accent3="accent3" accent4="accent4" accent5="accent5" accent6="accent6" hlink="hlink" folHlink="folHlink"/>
  <p:hf sldNum="0" hdr="0" ftr="0" dt="0"/>
  <p:notesStyle>
    <a:lvl1pPr marL="0" algn="l" defTabSz="457135" rtl="0" eaLnBrk="1" latinLnBrk="0" hangingPunct="1">
      <a:defRPr sz="1200" kern="1200">
        <a:solidFill>
          <a:schemeClr val="tx1"/>
        </a:solidFill>
        <a:latin typeface="+mn-lt"/>
        <a:ea typeface="+mn-ea"/>
        <a:cs typeface="+mn-cs"/>
      </a:defRPr>
    </a:lvl1pPr>
    <a:lvl2pPr marL="457135" algn="l" defTabSz="457135" rtl="0" eaLnBrk="1" latinLnBrk="0" hangingPunct="1">
      <a:defRPr sz="1200" kern="1200">
        <a:solidFill>
          <a:schemeClr val="tx1"/>
        </a:solidFill>
        <a:latin typeface="+mn-lt"/>
        <a:ea typeface="+mn-ea"/>
        <a:cs typeface="+mn-cs"/>
      </a:defRPr>
    </a:lvl2pPr>
    <a:lvl3pPr marL="914269" algn="l" defTabSz="457135" rtl="0" eaLnBrk="1" latinLnBrk="0" hangingPunct="1">
      <a:defRPr sz="1200" kern="1200">
        <a:solidFill>
          <a:schemeClr val="tx1"/>
        </a:solidFill>
        <a:latin typeface="+mn-lt"/>
        <a:ea typeface="+mn-ea"/>
        <a:cs typeface="+mn-cs"/>
      </a:defRPr>
    </a:lvl3pPr>
    <a:lvl4pPr marL="1371404" algn="l" defTabSz="457135" rtl="0" eaLnBrk="1" latinLnBrk="0" hangingPunct="1">
      <a:defRPr sz="1200" kern="1200">
        <a:solidFill>
          <a:schemeClr val="tx1"/>
        </a:solidFill>
        <a:latin typeface="+mn-lt"/>
        <a:ea typeface="+mn-ea"/>
        <a:cs typeface="+mn-cs"/>
      </a:defRPr>
    </a:lvl4pPr>
    <a:lvl5pPr marL="1828539" algn="l" defTabSz="457135" rtl="0" eaLnBrk="1" latinLnBrk="0" hangingPunct="1">
      <a:defRPr sz="1200" kern="1200">
        <a:solidFill>
          <a:schemeClr val="tx1"/>
        </a:solidFill>
        <a:latin typeface="+mn-lt"/>
        <a:ea typeface="+mn-ea"/>
        <a:cs typeface="+mn-cs"/>
      </a:defRPr>
    </a:lvl5pPr>
    <a:lvl6pPr marL="2285674" algn="l" defTabSz="457135" rtl="0" eaLnBrk="1" latinLnBrk="0" hangingPunct="1">
      <a:defRPr sz="1200" kern="1200">
        <a:solidFill>
          <a:schemeClr val="tx1"/>
        </a:solidFill>
        <a:latin typeface="+mn-lt"/>
        <a:ea typeface="+mn-ea"/>
        <a:cs typeface="+mn-cs"/>
      </a:defRPr>
    </a:lvl6pPr>
    <a:lvl7pPr marL="2742809" algn="l" defTabSz="457135" rtl="0" eaLnBrk="1" latinLnBrk="0" hangingPunct="1">
      <a:defRPr sz="1200" kern="1200">
        <a:solidFill>
          <a:schemeClr val="tx1"/>
        </a:solidFill>
        <a:latin typeface="+mn-lt"/>
        <a:ea typeface="+mn-ea"/>
        <a:cs typeface="+mn-cs"/>
      </a:defRPr>
    </a:lvl7pPr>
    <a:lvl8pPr marL="3199944" algn="l" defTabSz="457135" rtl="0" eaLnBrk="1" latinLnBrk="0" hangingPunct="1">
      <a:defRPr sz="1200" kern="1200">
        <a:solidFill>
          <a:schemeClr val="tx1"/>
        </a:solidFill>
        <a:latin typeface="+mn-lt"/>
        <a:ea typeface="+mn-ea"/>
        <a:cs typeface="+mn-cs"/>
      </a:defRPr>
    </a:lvl8pPr>
    <a:lvl9pPr marL="3657078" algn="l" defTabSz="45713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657A5-4467-FA94-6B5D-495CA56D4A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D3EB60-66DB-C83A-530C-2E665A3DF4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773793-2F22-DF2D-0B54-A01B4878B852}"/>
              </a:ext>
            </a:extLst>
          </p:cNvPr>
          <p:cNvSpPr>
            <a:spLocks noGrp="1"/>
          </p:cNvSpPr>
          <p:nvPr>
            <p:ph type="body" idx="1"/>
          </p:nvPr>
        </p:nvSpPr>
        <p:spPr/>
        <p:txBody>
          <a:bodyPr/>
          <a:lstStyle/>
          <a:p>
            <a:pPr defTabSz="474186">
              <a:defRPr/>
            </a:pPr>
            <a:endParaRPr lang="en-US">
              <a:highlight>
                <a:srgbClr val="FFFF00"/>
              </a:highlight>
              <a:latin typeface="Open Sans"/>
              <a:ea typeface="Open Sans"/>
              <a:cs typeface="Open Sans"/>
            </a:endParaRPr>
          </a:p>
        </p:txBody>
      </p:sp>
    </p:spTree>
    <p:extLst>
      <p:ext uri="{BB962C8B-B14F-4D97-AF65-F5344CB8AC3E}">
        <p14:creationId xmlns:p14="http://schemas.microsoft.com/office/powerpoint/2010/main" val="16956751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89EAC1-60B1-9035-B94D-450ED004E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B78644-6D57-1157-E55F-282F234CA5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F738C33-CA32-7138-DF8C-878EDAD28F43}"/>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9072772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424003-4B8B-E127-2594-698A7B1FA9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5F1D5C-1F67-3997-8C6F-8C341B833E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3AEA64-BB20-0A4F-FDF3-270A0B65B0D0}"/>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4121718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67809-03AB-AECC-3C31-475773B811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71CFB4-89BA-B8B5-186B-B8F2B78E2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A0CB50-07B1-F33E-A71F-13BD97BF85E7}"/>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36920835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D6F4E-94F2-BE12-5AC4-55DC5B6AC8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CDFCA8-A01E-812D-EAAB-D9E617B5A5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F4D246-57C5-6E88-03DE-DD20DA7EFE64}"/>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225583272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720207-E202-AE06-E311-4F44ACB5B5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FA49CB-57F2-9C52-7AD3-B33639D25E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FE9B9F-2AD6-1E79-4799-3939869DD251}"/>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37026837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3AC6FE-3EF2-DC35-80B2-C5BBD4E9B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2A5DB-04A9-9BDF-5156-14166BE7BE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3A1369-A93F-340B-7A65-1BCF8C5C243B}"/>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30384705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28D7F-74AD-4B1D-9B62-56819884BC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39D5A2-6FCC-2B2A-70CE-665DAADBC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B1D828-8D55-36DF-9B36-D39E4F04BF13}"/>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256519182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9673C-0A55-8496-4F7A-27C3B20153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E39EBD-3AF4-557D-6CB4-68772B96B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321C78-0336-2339-50F6-406A6D89BBA7}"/>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38052011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7E68A-1787-C92A-2C41-48F5FDA253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4CB1A2-8F99-FC55-D76F-2BBF3ABEED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28D19B-26C9-DAF3-5F59-C41AF5B15E45}"/>
              </a:ext>
            </a:extLst>
          </p:cNvPr>
          <p:cNvSpPr>
            <a:spLocks noGrp="1"/>
          </p:cNvSpPr>
          <p:nvPr>
            <p:ph type="body" idx="1"/>
          </p:nvPr>
        </p:nvSpPr>
        <p:spPr/>
        <p:txBody>
          <a:bodyPr/>
          <a:lstStyle/>
          <a:p>
            <a:endParaRPr lang="en-US">
              <a:highlight>
                <a:srgbClr val="FFFF00"/>
              </a:highlight>
            </a:endParaRPr>
          </a:p>
        </p:txBody>
      </p:sp>
    </p:spTree>
    <p:extLst>
      <p:ext uri="{BB962C8B-B14F-4D97-AF65-F5344CB8AC3E}">
        <p14:creationId xmlns:p14="http://schemas.microsoft.com/office/powerpoint/2010/main" val="9128886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99317-549E-8511-7718-1CE0545E3E3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1AFB0FF-76C0-6900-70B4-FFE3C667F8A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5324898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Cover Page">
    <p:spTree>
      <p:nvGrpSpPr>
        <p:cNvPr id="1" name=""/>
        <p:cNvGrpSpPr/>
        <p:nvPr/>
      </p:nvGrpSpPr>
      <p:grpSpPr>
        <a:xfrm>
          <a:off x="0" y="0"/>
          <a:ext cx="0" cy="0"/>
          <a:chOff x="0" y="0"/>
          <a:chExt cx="0" cy="0"/>
        </a:xfrm>
      </p:grpSpPr>
      <p:sp>
        <p:nvSpPr>
          <p:cNvPr id="9" name="Title 1"/>
          <p:cNvSpPr>
            <a:spLocks noGrp="1"/>
          </p:cNvSpPr>
          <p:nvPr>
            <p:ph type="title"/>
          </p:nvPr>
        </p:nvSpPr>
        <p:spPr>
          <a:xfrm>
            <a:off x="675203" y="2246645"/>
            <a:ext cx="10907199" cy="748931"/>
          </a:xfrm>
        </p:spPr>
        <p:txBody>
          <a:bodyPr anchor="b"/>
          <a:lstStyle>
            <a:lvl1pPr algn="r">
              <a:defRPr sz="3000">
                <a:solidFill>
                  <a:schemeClr val="bg1">
                    <a:lumMod val="50000"/>
                  </a:schemeClr>
                </a:solidFill>
                <a:latin typeface="+mj-lt"/>
              </a:defRPr>
            </a:lvl1pPr>
          </a:lstStyle>
          <a:p>
            <a:r>
              <a:rPr lang="en-US"/>
              <a:t>Click to edit Master title style</a:t>
            </a:r>
          </a:p>
        </p:txBody>
      </p:sp>
      <p:sp>
        <p:nvSpPr>
          <p:cNvPr id="10" name="Text Placeholder 5"/>
          <p:cNvSpPr>
            <a:spLocks noGrp="1"/>
          </p:cNvSpPr>
          <p:nvPr>
            <p:ph type="body" sz="quarter" idx="10"/>
          </p:nvPr>
        </p:nvSpPr>
        <p:spPr>
          <a:xfrm>
            <a:off x="679452" y="3984629"/>
            <a:ext cx="10902949" cy="1554163"/>
          </a:xfrm>
          <a:prstGeom prst="rect">
            <a:avLst/>
          </a:prstGeom>
        </p:spPr>
        <p:txBody>
          <a:bodyPr>
            <a:normAutofit/>
          </a:bodyPr>
          <a:lstStyle>
            <a:lvl1pPr algn="r">
              <a:defRPr sz="1600">
                <a:solidFill>
                  <a:srgbClr val="77777A"/>
                </a:solidFill>
                <a:latin typeface="+mj-lt"/>
              </a:defRPr>
            </a:lvl1pPr>
            <a:lvl2pPr algn="l">
              <a:defRPr/>
            </a:lvl2pPr>
            <a:lvl3pPr algn="l">
              <a:defRPr/>
            </a:lvl3pPr>
            <a:lvl4pPr algn="l">
              <a:defRPr/>
            </a:lvl4pPr>
            <a:lvl5pPr algn="l">
              <a:defRPr/>
            </a:lvl5pPr>
          </a:lstStyle>
          <a:p>
            <a:pPr lvl="0"/>
            <a:r>
              <a:rPr lang="en-US"/>
              <a:t>Click to edit Master text styles</a:t>
            </a:r>
          </a:p>
        </p:txBody>
      </p:sp>
      <p:sp>
        <p:nvSpPr>
          <p:cNvPr id="2" name="Rectangle 1">
            <a:extLst>
              <a:ext uri="{FF2B5EF4-FFF2-40B4-BE49-F238E27FC236}">
                <a16:creationId xmlns:a16="http://schemas.microsoft.com/office/drawing/2014/main" id="{D3E404E3-2581-9770-D993-4F52C109CF6E}"/>
              </a:ext>
            </a:extLst>
          </p:cNvPr>
          <p:cNvSpPr/>
          <p:nvPr userDrawn="1"/>
        </p:nvSpPr>
        <p:spPr>
          <a:xfrm>
            <a:off x="0" y="2995576"/>
            <a:ext cx="12192000" cy="989053"/>
          </a:xfrm>
          <a:prstGeom prst="rect">
            <a:avLst/>
          </a:prstGeom>
          <a:solidFill>
            <a:srgbClr val="00B050"/>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a:p>
        </p:txBody>
      </p:sp>
      <p:sp>
        <p:nvSpPr>
          <p:cNvPr id="3" name="Rectangle 2">
            <a:extLst>
              <a:ext uri="{FF2B5EF4-FFF2-40B4-BE49-F238E27FC236}">
                <a16:creationId xmlns:a16="http://schemas.microsoft.com/office/drawing/2014/main" id="{097FADF0-23FC-C065-8934-3DC2773768AA}"/>
              </a:ext>
            </a:extLst>
          </p:cNvPr>
          <p:cNvSpPr/>
          <p:nvPr userDrawn="1"/>
        </p:nvSpPr>
        <p:spPr>
          <a:xfrm>
            <a:off x="0" y="3759200"/>
            <a:ext cx="12192000" cy="225429"/>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t" anchorCtr="0"/>
          <a:lstStyle/>
          <a:p>
            <a:pPr algn="ctr"/>
            <a:endParaRPr lang="en-US"/>
          </a:p>
        </p:txBody>
      </p:sp>
    </p:spTree>
    <p:extLst>
      <p:ext uri="{BB962C8B-B14F-4D97-AF65-F5344CB8AC3E}">
        <p14:creationId xmlns:p14="http://schemas.microsoft.com/office/powerpoint/2010/main" val="4077597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sub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2920" y="1665290"/>
            <a:ext cx="11187430" cy="471646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a:extLst>
              <a:ext uri="{FF2B5EF4-FFF2-40B4-BE49-F238E27FC236}">
                <a16:creationId xmlns:a16="http://schemas.microsoft.com/office/drawing/2014/main" id="{537CC665-FE98-46D6-975E-AFF0AE8ED2C8}"/>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3565A"/>
                </a:solidFill>
              </a:defRPr>
            </a:lvl1pPr>
          </a:lstStyle>
          <a:p>
            <a:pPr lvl="0"/>
            <a:r>
              <a:rPr lang="en-US"/>
              <a:t>Click to add subtitle</a:t>
            </a:r>
          </a:p>
        </p:txBody>
      </p:sp>
      <p:sp>
        <p:nvSpPr>
          <p:cNvPr id="8" name="Title Placeholder 1">
            <a:extLst>
              <a:ext uri="{FF2B5EF4-FFF2-40B4-BE49-F238E27FC236}">
                <a16:creationId xmlns:a16="http://schemas.microsoft.com/office/drawing/2014/main" id="{3BBABC4F-611D-45AA-96CD-C45E11F22888}"/>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a:t>Click to add title</a:t>
            </a:r>
          </a:p>
        </p:txBody>
      </p:sp>
    </p:spTree>
    <p:extLst>
      <p:ext uri="{BB962C8B-B14F-4D97-AF65-F5344CB8AC3E}">
        <p14:creationId xmlns:p14="http://schemas.microsoft.com/office/powerpoint/2010/main" val="2617552029"/>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Blank Page">
    <p:spTree>
      <p:nvGrpSpPr>
        <p:cNvPr id="1" name=""/>
        <p:cNvGrpSpPr/>
        <p:nvPr/>
      </p:nvGrpSpPr>
      <p:grpSpPr>
        <a:xfrm>
          <a:off x="0" y="0"/>
          <a:ext cx="0" cy="0"/>
          <a:chOff x="0" y="0"/>
          <a:chExt cx="0" cy="0"/>
        </a:xfrm>
      </p:grpSpPr>
      <p:sp>
        <p:nvSpPr>
          <p:cNvPr id="2" name="Title 1"/>
          <p:cNvSpPr>
            <a:spLocks noGrp="1"/>
          </p:cNvSpPr>
          <p:nvPr>
            <p:ph type="title"/>
          </p:nvPr>
        </p:nvSpPr>
        <p:spPr>
          <a:xfrm>
            <a:off x="676588" y="360311"/>
            <a:ext cx="10905813" cy="385619"/>
          </a:xfrm>
        </p:spPr>
        <p:txBody>
          <a:bodyPr/>
          <a:lstStyle/>
          <a:p>
            <a:r>
              <a:rPr lang="en-US"/>
              <a:t>Click to edit Master title style</a:t>
            </a:r>
          </a:p>
        </p:txBody>
      </p:sp>
    </p:spTree>
    <p:extLst>
      <p:ext uri="{BB962C8B-B14F-4D97-AF65-F5344CB8AC3E}">
        <p14:creationId xmlns:p14="http://schemas.microsoft.com/office/powerpoint/2010/main" val="3381773103"/>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4.xml"/><Relationship Id="rId2" Type="http://schemas.openxmlformats.org/officeDocument/2006/relationships/slideLayout" Target="../slideLayouts/slideLayout3.xml"/><Relationship Id="rId1" Type="http://schemas.openxmlformats.org/officeDocument/2006/relationships/slideLayout" Target="../slideLayouts/slideLayout2.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25603"/>
            <a:ext cx="10972800" cy="4643395"/>
          </a:xfrm>
          <a:prstGeom prst="rect">
            <a:avLst/>
          </a:prstGeom>
        </p:spPr>
        <p:txBody>
          <a:bodyPr vert="horz" lIns="91440" tIns="45720" rIns="91440" bIns="45720" rtlCol="0">
            <a:norm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p>
        </p:txBody>
      </p:sp>
      <p:sp>
        <p:nvSpPr>
          <p:cNvPr id="4" name="Text Placeholder 4">
            <a:extLst>
              <a:ext uri="{FF2B5EF4-FFF2-40B4-BE49-F238E27FC236}">
                <a16:creationId xmlns:a16="http://schemas.microsoft.com/office/drawing/2014/main" id="{BB562DE4-7BBC-63D9-D33C-ACA724205240}"/>
              </a:ext>
            </a:extLst>
          </p:cNvPr>
          <p:cNvSpPr txBox="1">
            <a:spLocks/>
          </p:cNvSpPr>
          <p:nvPr userDrawn="1"/>
        </p:nvSpPr>
        <p:spPr>
          <a:xfrm>
            <a:off x="701041" y="742461"/>
            <a:ext cx="10881360" cy="381930"/>
          </a:xfrm>
          <a:prstGeom prst="rect">
            <a:avLst/>
          </a:prstGeom>
        </p:spPr>
        <p:txBody>
          <a:bodyPr vert="horz" lIns="0" tIns="0" rIns="0" bIns="0" rtlCol="0">
            <a:noAutofit/>
          </a:bodyPr>
          <a:lstStyle>
            <a:lvl1pPr marL="0" indent="0" algn="l" defTabSz="914400" rtl="0" eaLnBrk="1" latinLnBrk="0" hangingPunct="1">
              <a:spcBef>
                <a:spcPts val="0"/>
              </a:spcBef>
              <a:spcAft>
                <a:spcPts val="0"/>
              </a:spcAft>
              <a:buSzPct val="100000"/>
              <a:buFontTx/>
              <a:buNone/>
              <a:defRPr sz="1600" b="0" kern="1200">
                <a:solidFill>
                  <a:schemeClr val="tx2"/>
                </a:solidFill>
                <a:latin typeface="+mj-lt"/>
                <a:ea typeface="Verdana" panose="020B0604030504040204" pitchFamily="34" charset="0"/>
                <a:cs typeface="Calibri Light" panose="020F0302020204030204" pitchFamily="34" charset="0"/>
              </a:defRPr>
            </a:lvl1pPr>
            <a:lvl2pPr marL="139700" indent="-139700" algn="l" defTabSz="914400" rtl="0" eaLnBrk="1" latinLnBrk="0" hangingPunct="1">
              <a:spcBef>
                <a:spcPts val="0"/>
              </a:spcBef>
              <a:spcAft>
                <a:spcPts val="600"/>
              </a:spcAft>
              <a:buClrTx/>
              <a:buSzPct val="100000"/>
              <a:buFont typeface="Arial" panose="020B0604020202020204" pitchFamily="34" charset="0"/>
              <a:buChar char="•"/>
              <a:defRPr lang="en-US" sz="1200" b="0" kern="120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2pPr>
            <a:lvl3pPr marL="304800" indent="-139700" algn="l" defTabSz="91440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3pPr>
            <a:lvl4pPr marL="469900" indent="-139700" algn="l" defTabSz="91440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4pPr>
            <a:lvl5pPr marL="635000" indent="-139700" algn="l" defTabSz="798513" rtl="0" eaLnBrk="1" latinLnBrk="0" hangingPunct="1">
              <a:spcBef>
                <a:spcPts val="0"/>
              </a:spcBef>
              <a:spcAft>
                <a:spcPts val="600"/>
              </a:spcAft>
              <a:buClrTx/>
              <a:buSzPct val="100000"/>
              <a:buFont typeface="Arial" panose="020B0604020202020204" pitchFamily="34" charset="0"/>
              <a:buChar char="−"/>
              <a:tabLst/>
              <a:defRPr lang="en-US" sz="1200" kern="1200" baseline="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endParaRPr lang="en-US" sz="1400" i="1">
              <a:solidFill>
                <a:schemeClr val="bg1">
                  <a:lumMod val="50000"/>
                </a:schemeClr>
              </a:solidFill>
              <a:latin typeface="+mn-lt"/>
              <a:ea typeface="Open Sans Light" panose="020B0306030504020204" pitchFamily="34" charset="0"/>
              <a:cs typeface="Open Sans Light" panose="020B0306030504020204" pitchFamily="34" charset="0"/>
            </a:endParaRPr>
          </a:p>
        </p:txBody>
      </p:sp>
      <p:sp>
        <p:nvSpPr>
          <p:cNvPr id="5" name="TextBox 4">
            <a:extLst>
              <a:ext uri="{FF2B5EF4-FFF2-40B4-BE49-F238E27FC236}">
                <a16:creationId xmlns:a16="http://schemas.microsoft.com/office/drawing/2014/main" id="{75E22F90-2EF0-7943-FDB3-5C292116EDA0}"/>
              </a:ext>
            </a:extLst>
          </p:cNvPr>
          <p:cNvSpPr txBox="1"/>
          <p:nvPr userDrawn="1"/>
        </p:nvSpPr>
        <p:spPr bwMode="gray">
          <a:xfrm>
            <a:off x="10357175" y="6374578"/>
            <a:ext cx="1429169" cy="123111"/>
          </a:xfrm>
          <a:prstGeom prst="rect">
            <a:avLst/>
          </a:prstGeom>
          <a:noFill/>
        </p:spPr>
        <p:txBody>
          <a:bodyPr wrap="square" lIns="0" tIns="0" rIns="0" bIns="0" rtlCol="0" anchor="b">
            <a:spAutoFit/>
          </a:bodyPr>
          <a:lstStyle/>
          <a:p>
            <a:pPr algn="ctr"/>
            <a:r>
              <a:rPr lang="en-US" sz="800" b="1">
                <a:solidFill>
                  <a:srgbClr val="8C8C8C"/>
                </a:solidFill>
              </a:rPr>
              <a:t>CONFIDENTIAL</a:t>
            </a:r>
          </a:p>
        </p:txBody>
      </p:sp>
    </p:spTree>
    <p:extLst>
      <p:ext uri="{BB962C8B-B14F-4D97-AF65-F5344CB8AC3E}">
        <p14:creationId xmlns:p14="http://schemas.microsoft.com/office/powerpoint/2010/main" val="2136117207"/>
      </p:ext>
    </p:extLst>
  </p:cSld>
  <p:clrMap bg1="lt1" tx1="dk1" bg2="lt2" tx2="dk2" accent1="accent1" accent2="accent2" accent3="accent3" accent4="accent4" accent5="accent5" accent6="accent6" hlink="hlink" folHlink="folHlink"/>
  <p:sldLayoutIdLst>
    <p:sldLayoutId id="2147483785" r:id="rId1"/>
  </p:sldLayoutIdLst>
  <p:hf hdr="0" ftr="0" dt="0"/>
  <p:txStyles>
    <p:titleStyle>
      <a:lvl1pPr algn="l" defTabSz="914400" rtl="0" eaLnBrk="1" latinLnBrk="0" hangingPunct="1">
        <a:spcBef>
          <a:spcPct val="0"/>
        </a:spcBef>
        <a:buNone/>
        <a:defRPr sz="2400" kern="1200">
          <a:solidFill>
            <a:schemeClr val="accent6"/>
          </a:solidFill>
          <a:latin typeface="+mj-lt"/>
          <a:ea typeface="+mj-ea"/>
          <a:cs typeface="+mj-cs"/>
        </a:defRPr>
      </a:lvl1pPr>
    </p:titleStyle>
    <p:bodyStyle>
      <a:lvl1pPr marL="0" indent="0" algn="l" defTabSz="914400" rtl="0" eaLnBrk="1" latinLnBrk="0" hangingPunct="1">
        <a:spcBef>
          <a:spcPts val="300"/>
        </a:spcBef>
        <a:spcAft>
          <a:spcPts val="300"/>
        </a:spcAft>
        <a:buFont typeface="Arial" panose="020B0604020202020204" pitchFamily="34" charset="0"/>
        <a:buNone/>
        <a:defRPr sz="1200" kern="1200">
          <a:solidFill>
            <a:schemeClr val="tx1"/>
          </a:solidFill>
          <a:latin typeface="+mn-lt"/>
          <a:ea typeface="+mn-ea"/>
          <a:cs typeface="+mn-cs"/>
        </a:defRPr>
      </a:lvl1pPr>
      <a:lvl2pPr marL="182880" indent="-182880" algn="l" defTabSz="914400" rtl="0" eaLnBrk="1" latinLnBrk="0" hangingPunct="1">
        <a:spcBef>
          <a:spcPts val="0"/>
        </a:spcBef>
        <a:spcAft>
          <a:spcPts val="300"/>
        </a:spcAft>
        <a:buSzPct val="120000"/>
        <a:buFont typeface="Arial" panose="020B0604020202020204" pitchFamily="34" charset="0"/>
        <a:buChar char="•"/>
        <a:defRPr sz="1200" kern="1200">
          <a:solidFill>
            <a:schemeClr val="tx1"/>
          </a:solidFill>
          <a:latin typeface="+mn-lt"/>
          <a:ea typeface="+mn-ea"/>
          <a:cs typeface="+mn-cs"/>
        </a:defRPr>
      </a:lvl2pPr>
      <a:lvl3pPr marL="365760" indent="-182880" algn="l" defTabSz="914400" rtl="0" eaLnBrk="1" latinLnBrk="0" hangingPunct="1">
        <a:spcBef>
          <a:spcPts val="0"/>
        </a:spcBef>
        <a:spcAft>
          <a:spcPts val="300"/>
        </a:spcAft>
        <a:buFont typeface="Arial" panose="020B0604020202020204" pitchFamily="34" charset="0"/>
        <a:buChar char="−"/>
        <a:defRPr sz="1200" kern="1200">
          <a:solidFill>
            <a:schemeClr val="tx1"/>
          </a:solidFill>
          <a:latin typeface="+mn-lt"/>
          <a:ea typeface="+mn-ea"/>
          <a:cs typeface="+mn-cs"/>
        </a:defRPr>
      </a:lvl3pPr>
      <a:lvl4pPr marL="548640" indent="-182880" algn="l" defTabSz="914400" rtl="0" eaLnBrk="1" latinLnBrk="0" hangingPunct="1">
        <a:spcBef>
          <a:spcPts val="0"/>
        </a:spcBef>
        <a:spcAft>
          <a:spcPts val="300"/>
        </a:spcAft>
        <a:buFont typeface="Wingdings" panose="05000000000000000000" pitchFamily="2" charset="2"/>
        <a:buChar char="§"/>
        <a:defRPr sz="1200" kern="1200">
          <a:solidFill>
            <a:schemeClr val="tx1"/>
          </a:solidFill>
          <a:latin typeface="+mn-lt"/>
          <a:ea typeface="+mn-ea"/>
          <a:cs typeface="+mn-cs"/>
        </a:defRPr>
      </a:lvl4pPr>
      <a:lvl5pPr marL="731520" indent="-182880" algn="l" defTabSz="914400" rtl="0" eaLnBrk="1" latinLnBrk="0" hangingPunct="1">
        <a:spcBef>
          <a:spcPts val="0"/>
        </a:spcBef>
        <a:spcAft>
          <a:spcPts val="300"/>
        </a:spcAft>
        <a:buFont typeface="Courier New" panose="02070309020205020404" pitchFamily="49" charset="0"/>
        <a:buChar char="o"/>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1625603"/>
            <a:ext cx="10972800" cy="4643395"/>
          </a:xfrm>
          <a:prstGeom prst="rect">
            <a:avLst/>
          </a:prstGeom>
        </p:spPr>
        <p:txBody>
          <a:bodyPr vert="horz" lIns="91440" tIns="45720" rIns="91440" bIns="45720" rtlCol="0">
            <a:normAutofit/>
          </a:bodyPr>
          <a:lstStyle/>
          <a:p>
            <a:pPr lvl="0"/>
            <a:r>
              <a:rPr lang="en-US"/>
              <a:t>Click to edit Master text styles</a:t>
            </a:r>
          </a:p>
          <a:p>
            <a:pPr lvl="1"/>
            <a:r>
              <a:rPr lang="en-US"/>
              <a:t>First level</a:t>
            </a:r>
          </a:p>
          <a:p>
            <a:pPr lvl="2"/>
            <a:r>
              <a:rPr lang="en-US"/>
              <a:t>Second level</a:t>
            </a:r>
          </a:p>
          <a:p>
            <a:pPr lvl="3"/>
            <a:r>
              <a:rPr lang="en-US"/>
              <a:t>Third level</a:t>
            </a:r>
          </a:p>
          <a:p>
            <a:pPr lvl="4"/>
            <a:r>
              <a:rPr lang="en-US"/>
              <a:t>Fourth level</a:t>
            </a:r>
          </a:p>
        </p:txBody>
      </p:sp>
      <p:sp>
        <p:nvSpPr>
          <p:cNvPr id="4" name="Text Placeholder 4">
            <a:extLst>
              <a:ext uri="{FF2B5EF4-FFF2-40B4-BE49-F238E27FC236}">
                <a16:creationId xmlns:a16="http://schemas.microsoft.com/office/drawing/2014/main" id="{BB562DE4-7BBC-63D9-D33C-ACA724205240}"/>
              </a:ext>
            </a:extLst>
          </p:cNvPr>
          <p:cNvSpPr txBox="1">
            <a:spLocks/>
          </p:cNvSpPr>
          <p:nvPr userDrawn="1"/>
        </p:nvSpPr>
        <p:spPr>
          <a:xfrm>
            <a:off x="701041" y="742461"/>
            <a:ext cx="10881360" cy="381930"/>
          </a:xfrm>
          <a:prstGeom prst="rect">
            <a:avLst/>
          </a:prstGeom>
        </p:spPr>
        <p:txBody>
          <a:bodyPr vert="horz" lIns="0" tIns="0" rIns="0" bIns="0" rtlCol="0">
            <a:noAutofit/>
          </a:bodyPr>
          <a:lstStyle>
            <a:lvl1pPr marL="0" indent="0" algn="l" defTabSz="914400" rtl="0" eaLnBrk="1" latinLnBrk="0" hangingPunct="1">
              <a:spcBef>
                <a:spcPts val="0"/>
              </a:spcBef>
              <a:spcAft>
                <a:spcPts val="0"/>
              </a:spcAft>
              <a:buSzPct val="100000"/>
              <a:buFontTx/>
              <a:buNone/>
              <a:defRPr sz="1600" b="0" kern="1200">
                <a:solidFill>
                  <a:schemeClr val="tx2"/>
                </a:solidFill>
                <a:latin typeface="+mj-lt"/>
                <a:ea typeface="Verdana" panose="020B0604030504040204" pitchFamily="34" charset="0"/>
                <a:cs typeface="Calibri Light" panose="020F0302020204030204" pitchFamily="34" charset="0"/>
              </a:defRPr>
            </a:lvl1pPr>
            <a:lvl2pPr marL="139700" indent="-139700" algn="l" defTabSz="914400" rtl="0" eaLnBrk="1" latinLnBrk="0" hangingPunct="1">
              <a:spcBef>
                <a:spcPts val="0"/>
              </a:spcBef>
              <a:spcAft>
                <a:spcPts val="600"/>
              </a:spcAft>
              <a:buClrTx/>
              <a:buSzPct val="100000"/>
              <a:buFont typeface="Arial" panose="020B0604020202020204" pitchFamily="34" charset="0"/>
              <a:buChar char="•"/>
              <a:defRPr lang="en-US" sz="1200" b="0" kern="120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2pPr>
            <a:lvl3pPr marL="304800" indent="-139700" algn="l" defTabSz="914400" rtl="0" eaLnBrk="1" latinLnBrk="0" hangingPunct="1">
              <a:spcBef>
                <a:spcPts val="0"/>
              </a:spcBef>
              <a:spcAft>
                <a:spcPts val="600"/>
              </a:spcAft>
              <a:buClrTx/>
              <a:buSzPct val="100000"/>
              <a:buFont typeface="Arial" panose="020B0604020202020204" pitchFamily="34" charset="0"/>
              <a:buChar char="−"/>
              <a:defRPr lang="en-US" sz="1200" kern="120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3pPr>
            <a:lvl4pPr marL="469900" indent="-139700" algn="l" defTabSz="914400" rtl="0" eaLnBrk="1" latinLnBrk="0" hangingPunct="1">
              <a:spcBef>
                <a:spcPts val="0"/>
              </a:spcBef>
              <a:spcAft>
                <a:spcPts val="600"/>
              </a:spcAft>
              <a:buClrTx/>
              <a:buSzPct val="100000"/>
              <a:buFont typeface="Arial" panose="020B0604020202020204" pitchFamily="34" charset="0"/>
              <a:buChar char="◦"/>
              <a:defRPr lang="en-US" sz="1200" kern="1200" baseline="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4pPr>
            <a:lvl5pPr marL="635000" indent="-139700" algn="l" defTabSz="798513" rtl="0" eaLnBrk="1" latinLnBrk="0" hangingPunct="1">
              <a:spcBef>
                <a:spcPts val="0"/>
              </a:spcBef>
              <a:spcAft>
                <a:spcPts val="600"/>
              </a:spcAft>
              <a:buClrTx/>
              <a:buSzPct val="100000"/>
              <a:buFont typeface="Arial" panose="020B0604020202020204" pitchFamily="34" charset="0"/>
              <a:buChar char="−"/>
              <a:tabLst/>
              <a:defRPr lang="en-US" sz="1200" kern="1200" baseline="0" dirty="0" smtClean="0">
                <a:solidFill>
                  <a:schemeClr val="tx1"/>
                </a:solidFill>
                <a:latin typeface="Verdana" panose="020B0604030504040204" pitchFamily="34" charset="0"/>
                <a:ea typeface="Verdana" panose="020B0604030504040204" pitchFamily="34" charset="0"/>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endParaRPr lang="en-US" sz="1400" i="1">
              <a:solidFill>
                <a:schemeClr val="bg1">
                  <a:lumMod val="50000"/>
                </a:schemeClr>
              </a:solidFill>
              <a:latin typeface="+mn-lt"/>
              <a:ea typeface="Open Sans Light" panose="020B0306030504020204" pitchFamily="34" charset="0"/>
              <a:cs typeface="Open Sans Light" panose="020B0306030504020204" pitchFamily="34" charset="0"/>
            </a:endParaRPr>
          </a:p>
        </p:txBody>
      </p:sp>
      <p:sp>
        <p:nvSpPr>
          <p:cNvPr id="5" name="TextBox 4">
            <a:extLst>
              <a:ext uri="{FF2B5EF4-FFF2-40B4-BE49-F238E27FC236}">
                <a16:creationId xmlns:a16="http://schemas.microsoft.com/office/drawing/2014/main" id="{75E22F90-2EF0-7943-FDB3-5C292116EDA0}"/>
              </a:ext>
            </a:extLst>
          </p:cNvPr>
          <p:cNvSpPr txBox="1"/>
          <p:nvPr userDrawn="1"/>
        </p:nvSpPr>
        <p:spPr bwMode="gray">
          <a:xfrm>
            <a:off x="10357175" y="6374578"/>
            <a:ext cx="1429169" cy="123111"/>
          </a:xfrm>
          <a:prstGeom prst="rect">
            <a:avLst/>
          </a:prstGeom>
          <a:noFill/>
        </p:spPr>
        <p:txBody>
          <a:bodyPr wrap="square" lIns="0" tIns="0" rIns="0" bIns="0" rtlCol="0" anchor="b">
            <a:spAutoFit/>
          </a:bodyPr>
          <a:lstStyle/>
          <a:p>
            <a:pPr algn="ctr"/>
            <a:r>
              <a:rPr lang="en-US" sz="800" b="1">
                <a:solidFill>
                  <a:srgbClr val="8C8C8C"/>
                </a:solidFill>
              </a:rPr>
              <a:t>CONFIDENTIAL</a:t>
            </a:r>
          </a:p>
        </p:txBody>
      </p:sp>
    </p:spTree>
    <p:extLst>
      <p:ext uri="{BB962C8B-B14F-4D97-AF65-F5344CB8AC3E}">
        <p14:creationId xmlns:p14="http://schemas.microsoft.com/office/powerpoint/2010/main" val="2498505168"/>
      </p:ext>
    </p:extLst>
  </p:cSld>
  <p:clrMap bg1="lt1" tx1="dk1" bg2="lt2" tx2="dk2" accent1="accent1" accent2="accent2" accent3="accent3" accent4="accent4" accent5="accent5" accent6="accent6" hlink="hlink" folHlink="folHlink"/>
  <p:sldLayoutIdLst>
    <p:sldLayoutId id="2147483780" r:id="rId1"/>
    <p:sldLayoutId id="2147483783" r:id="rId2"/>
    <p:sldLayoutId id="2147483784" r:id="rId3"/>
  </p:sldLayoutIdLst>
  <p:hf hdr="0" ftr="0" dt="0"/>
  <p:txStyles>
    <p:titleStyle>
      <a:lvl1pPr algn="l" defTabSz="914400" rtl="0" eaLnBrk="1" latinLnBrk="0" hangingPunct="1">
        <a:spcBef>
          <a:spcPct val="0"/>
        </a:spcBef>
        <a:buNone/>
        <a:defRPr sz="2400" kern="1200">
          <a:solidFill>
            <a:schemeClr val="accent6"/>
          </a:solidFill>
          <a:latin typeface="+mj-lt"/>
          <a:ea typeface="+mj-ea"/>
          <a:cs typeface="+mj-cs"/>
        </a:defRPr>
      </a:lvl1pPr>
    </p:titleStyle>
    <p:bodyStyle>
      <a:lvl1pPr marL="0" indent="0" algn="l" defTabSz="914400" rtl="0" eaLnBrk="1" latinLnBrk="0" hangingPunct="1">
        <a:spcBef>
          <a:spcPts val="300"/>
        </a:spcBef>
        <a:spcAft>
          <a:spcPts val="300"/>
        </a:spcAft>
        <a:buFont typeface="Arial" panose="020B0604020202020204" pitchFamily="34" charset="0"/>
        <a:buNone/>
        <a:defRPr sz="1200" kern="1200">
          <a:solidFill>
            <a:schemeClr val="tx1"/>
          </a:solidFill>
          <a:latin typeface="+mn-lt"/>
          <a:ea typeface="+mn-ea"/>
          <a:cs typeface="+mn-cs"/>
        </a:defRPr>
      </a:lvl1pPr>
      <a:lvl2pPr marL="182880" indent="-182880" algn="l" defTabSz="914400" rtl="0" eaLnBrk="1" latinLnBrk="0" hangingPunct="1">
        <a:spcBef>
          <a:spcPts val="0"/>
        </a:spcBef>
        <a:spcAft>
          <a:spcPts val="300"/>
        </a:spcAft>
        <a:buSzPct val="120000"/>
        <a:buFont typeface="Arial" panose="020B0604020202020204" pitchFamily="34" charset="0"/>
        <a:buChar char="•"/>
        <a:defRPr sz="1200" kern="1200">
          <a:solidFill>
            <a:schemeClr val="tx1"/>
          </a:solidFill>
          <a:latin typeface="+mn-lt"/>
          <a:ea typeface="+mn-ea"/>
          <a:cs typeface="+mn-cs"/>
        </a:defRPr>
      </a:lvl2pPr>
      <a:lvl3pPr marL="365760" indent="-182880" algn="l" defTabSz="914400" rtl="0" eaLnBrk="1" latinLnBrk="0" hangingPunct="1">
        <a:spcBef>
          <a:spcPts val="0"/>
        </a:spcBef>
        <a:spcAft>
          <a:spcPts val="300"/>
        </a:spcAft>
        <a:buFont typeface="Arial" panose="020B0604020202020204" pitchFamily="34" charset="0"/>
        <a:buChar char="−"/>
        <a:defRPr sz="1200" kern="1200">
          <a:solidFill>
            <a:schemeClr val="tx1"/>
          </a:solidFill>
          <a:latin typeface="+mn-lt"/>
          <a:ea typeface="+mn-ea"/>
          <a:cs typeface="+mn-cs"/>
        </a:defRPr>
      </a:lvl3pPr>
      <a:lvl4pPr marL="548640" indent="-182880" algn="l" defTabSz="914400" rtl="0" eaLnBrk="1" latinLnBrk="0" hangingPunct="1">
        <a:spcBef>
          <a:spcPts val="0"/>
        </a:spcBef>
        <a:spcAft>
          <a:spcPts val="300"/>
        </a:spcAft>
        <a:buFont typeface="Wingdings" panose="05000000000000000000" pitchFamily="2" charset="2"/>
        <a:buChar char="§"/>
        <a:defRPr sz="1200" kern="1200">
          <a:solidFill>
            <a:schemeClr val="tx1"/>
          </a:solidFill>
          <a:latin typeface="+mn-lt"/>
          <a:ea typeface="+mn-ea"/>
          <a:cs typeface="+mn-cs"/>
        </a:defRPr>
      </a:lvl4pPr>
      <a:lvl5pPr marL="731520" indent="-182880" algn="l" defTabSz="914400" rtl="0" eaLnBrk="1" latinLnBrk="0" hangingPunct="1">
        <a:spcBef>
          <a:spcPts val="0"/>
        </a:spcBef>
        <a:spcAft>
          <a:spcPts val="300"/>
        </a:spcAft>
        <a:buFont typeface="Courier New" panose="02070309020205020404" pitchFamily="49" charset="0"/>
        <a:buChar char="o"/>
        <a:defRPr sz="12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370B53-2B96-C7B5-93C1-602D9368C742}"/>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EFD59BC-F303-B77B-A983-2FDFEA148873}"/>
              </a:ext>
            </a:extLst>
          </p:cNvPr>
          <p:cNvSpPr>
            <a:spLocks noGrp="1"/>
          </p:cNvSpPr>
          <p:nvPr>
            <p:ph type="title"/>
          </p:nvPr>
        </p:nvSpPr>
        <p:spPr>
          <a:xfrm>
            <a:off x="201254" y="3092867"/>
            <a:ext cx="10905813" cy="385619"/>
          </a:xfrm>
        </p:spPr>
        <p:txBody>
          <a:bodyPr lIns="91440" tIns="45720" rIns="91440" bIns="45720" anchor="t"/>
          <a:lstStyle/>
          <a:p>
            <a:r>
              <a:rPr lang="en-US" sz="2000" b="1" dirty="0">
                <a:solidFill>
                  <a:schemeClr val="tx1"/>
                </a:solidFill>
                <a:latin typeface="Open Sans"/>
                <a:ea typeface="Open Sans"/>
                <a:cs typeface="Open Sans"/>
              </a:rPr>
              <a:t>Guidelines for Reviewing “Card” Account Alerts</a:t>
            </a:r>
          </a:p>
        </p:txBody>
      </p:sp>
    </p:spTree>
    <p:extLst>
      <p:ext uri="{BB962C8B-B14F-4D97-AF65-F5344CB8AC3E}">
        <p14:creationId xmlns:p14="http://schemas.microsoft.com/office/powerpoint/2010/main" val="2125437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7DE58-12B6-2A41-930C-579ACC830CB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9CF5F8A-63BB-0C72-E1DF-ADBAECB53A24}"/>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“Card Account” Overview </a:t>
            </a:r>
            <a:endParaRPr lang="en-US" sz="1900" dirty="0">
              <a:solidFill>
                <a:schemeClr val="tx1"/>
              </a:solidFill>
              <a:latin typeface="Open Sans"/>
              <a:ea typeface="Open Sans"/>
              <a:cs typeface="Open Sans"/>
            </a:endParaRPr>
          </a:p>
        </p:txBody>
      </p:sp>
      <p:sp>
        <p:nvSpPr>
          <p:cNvPr id="2" name="TextBox 1">
            <a:extLst>
              <a:ext uri="{FF2B5EF4-FFF2-40B4-BE49-F238E27FC236}">
                <a16:creationId xmlns:a16="http://schemas.microsoft.com/office/drawing/2014/main" id="{EC4A6C38-C2C8-B782-1741-9994E95097BB}"/>
              </a:ext>
            </a:extLst>
          </p:cNvPr>
          <p:cNvSpPr txBox="1"/>
          <p:nvPr/>
        </p:nvSpPr>
        <p:spPr>
          <a:xfrm>
            <a:off x="443979" y="794302"/>
            <a:ext cx="11040450" cy="4324261"/>
          </a:xfrm>
          <a:prstGeom prst="rect">
            <a:avLst/>
          </a:prstGeom>
          <a:noFill/>
        </p:spPr>
        <p:txBody>
          <a:bodyPr wrap="square" rtlCol="0">
            <a:spAutoFit/>
          </a:bodyPr>
          <a:lstStyle/>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CFSB sponsors various programs that offer re-loadable card and/or stored balances accounts. These are generally physical or virtual debit cards sponsored by programs (i.e. Crypto) that allow its users to load funds (from external Bank accounts, crypto wallets, US dollar accounts, direct deposits, and other external sources), send funds (bill pay, peer-to-peer transfer, movement to external Bank accounts ), conduct ATM and/or cash withdrawals, and to conduct “Point-of-Sale” transactions. Generally, these programs/cards are in place to: </a:t>
            </a:r>
          </a:p>
          <a:p>
            <a:pPr>
              <a:spcBef>
                <a:spcPts val="600"/>
              </a:spcBef>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Provide an alternative to traditional banking (many individuals that use these products do not wish to, or cannot use transactional Bank accounts, but need Debit Cards to conduct everyday transactions and to send money)</a:t>
            </a: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Provide access to US Dollars and/or to facilitate international travel</a:t>
            </a: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Manage crypto wallets (the cards allow users to transfer proceeds of crypto trades onto the card to spend, and also allow transfer of stored balance back to the wallet for re-investment)</a:t>
            </a: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Major CFSB sponsored programs that offer such products include Nomad, Sakon, Crypto, XP, and Bambu</a:t>
            </a: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Focal Entities are almost always individuals </a:t>
            </a:r>
          </a:p>
          <a:p>
            <a:pPr marL="171450" indent="-171450">
              <a:spcBef>
                <a:spcPts val="600"/>
              </a:spcBef>
              <a:buFont typeface="Arial" panose="020B0604020202020204" pitchFamily="34" charset="0"/>
              <a:buChar char="•"/>
            </a:pPr>
            <a:r>
              <a:rPr lang="en-US" sz="1500" dirty="0">
                <a:latin typeface="Open Sans" panose="020B0606030504020204" pitchFamily="34" charset="0"/>
                <a:ea typeface="Open Sans" panose="020B0606030504020204" pitchFamily="34" charset="0"/>
                <a:cs typeface="Open Sans" panose="020B0606030504020204" pitchFamily="34" charset="0"/>
              </a:rPr>
              <a:t>These accounts tends to alert for rules including Large Value Card Transactions for Purchase, Large Repetitive Card Usage at the Same Merchant, Larch Value Cash Withdrawals and other cash withdrawal rules, and Pattern of Funding on Pre-Paid Card      </a:t>
            </a:r>
          </a:p>
        </p:txBody>
      </p:sp>
    </p:spTree>
    <p:extLst>
      <p:ext uri="{BB962C8B-B14F-4D97-AF65-F5344CB8AC3E}">
        <p14:creationId xmlns:p14="http://schemas.microsoft.com/office/powerpoint/2010/main" val="8977892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2BEFA-8B7D-8841-B108-CF1C838FB0E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18B680E3-D9D9-B273-EB63-519A341D7F4E}"/>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Guidelines-Large POS Transaction(s) (1of 2)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13ECC670-4ED0-18FD-A3F4-4AB96303F4A2}"/>
              </a:ext>
            </a:extLst>
          </p:cNvPr>
          <p:cNvGraphicFramePr>
            <a:graphicFrameLocks noGrp="1"/>
          </p:cNvGraphicFramePr>
          <p:nvPr>
            <p:extLst>
              <p:ext uri="{D42A27DB-BD31-4B8C-83A1-F6EECF244321}">
                <p14:modId xmlns:p14="http://schemas.microsoft.com/office/powerpoint/2010/main" val="3718268133"/>
              </p:ext>
            </p:extLst>
          </p:nvPr>
        </p:nvGraphicFramePr>
        <p:xfrm>
          <a:off x="468086" y="937381"/>
          <a:ext cx="11484428" cy="5674203"/>
        </p:xfrm>
        <a:graphic>
          <a:graphicData uri="http://schemas.openxmlformats.org/drawingml/2006/table">
            <a:tbl>
              <a:tblPr firstRow="1" bandRow="1">
                <a:tableStyleId>{5C22544A-7EE6-4342-B048-85BDC9FD1C3A}</a:tableStyleId>
              </a:tblPr>
              <a:tblGrid>
                <a:gridCol w="2108134">
                  <a:extLst>
                    <a:ext uri="{9D8B030D-6E8A-4147-A177-3AD203B41FA5}">
                      <a16:colId xmlns:a16="http://schemas.microsoft.com/office/drawing/2014/main" val="555143759"/>
                    </a:ext>
                  </a:extLst>
                </a:gridCol>
                <a:gridCol w="6134425">
                  <a:extLst>
                    <a:ext uri="{9D8B030D-6E8A-4147-A177-3AD203B41FA5}">
                      <a16:colId xmlns:a16="http://schemas.microsoft.com/office/drawing/2014/main" val="2349788846"/>
                    </a:ext>
                  </a:extLst>
                </a:gridCol>
                <a:gridCol w="3241869">
                  <a:extLst>
                    <a:ext uri="{9D8B030D-6E8A-4147-A177-3AD203B41FA5}">
                      <a16:colId xmlns:a16="http://schemas.microsoft.com/office/drawing/2014/main" val="3423494171"/>
                    </a:ext>
                  </a:extLst>
                </a:gridCol>
              </a:tblGrid>
              <a:tr h="279243">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649290">
                <a:tc>
                  <a:txBody>
                    <a:bodyPr/>
                    <a:lstStyle/>
                    <a:p>
                      <a:r>
                        <a:rPr lang="en-US" sz="1200" dirty="0">
                          <a:solidFill>
                            <a:schemeClr val="tx1"/>
                          </a:solidFill>
                        </a:rPr>
                        <a:t>A single or a few large POS transactions.</a:t>
                      </a:r>
                    </a:p>
                    <a:p>
                      <a:endParaRPr lang="en-US" sz="1200" dirty="0">
                        <a:solidFill>
                          <a:schemeClr val="tx1"/>
                        </a:solidFill>
                      </a:endParaRPr>
                    </a:p>
                    <a:p>
                      <a:r>
                        <a:rPr lang="en-US" sz="1200" dirty="0">
                          <a:solidFill>
                            <a:schemeClr val="tx1"/>
                          </a:solidFill>
                        </a:rPr>
                        <a:t>Alerted transactions tend to be larger than other POS transactions in the account and are often conducted with retail stores, hotels, airlines, online marketplaces (e.g., </a:t>
                      </a:r>
                      <a:r>
                        <a:rPr lang="en-US" sz="1200" dirty="0" err="1">
                          <a:solidFill>
                            <a:schemeClr val="tx1"/>
                          </a:solidFill>
                        </a:rPr>
                        <a:t>ebay</a:t>
                      </a:r>
                      <a:r>
                        <a:rPr lang="en-US" sz="1200" dirty="0">
                          <a:solidFill>
                            <a:schemeClr val="tx1"/>
                          </a:solidFill>
                        </a:rPr>
                        <a:t>), gaming/gambling sites, or with other transfer services (e.g., PayPal)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As this activity tends to alert for POS transactions that are larger than other transactions in the account, this activity can be mitigated if the activity appears limited or is a one-off transaction, however multiple factors should be considered and documented in the written narrative supporting the decision to either close or to escalate. Below are the steps that should be followed when assessing this activity:</a:t>
                      </a:r>
                    </a:p>
                    <a:p>
                      <a:pPr marL="0" indent="0">
                        <a:buNone/>
                      </a:pPr>
                      <a:endParaRPr lang="en-US" sz="1200" dirty="0">
                        <a:solidFill>
                          <a:schemeClr val="tx1"/>
                        </a:solidFill>
                      </a:endParaRPr>
                    </a:p>
                    <a:p>
                      <a:pPr marL="228600" indent="-228600">
                        <a:buAutoNum type="arabicPeriod"/>
                      </a:pPr>
                      <a:r>
                        <a:rPr lang="en-US" sz="1200" dirty="0">
                          <a:solidFill>
                            <a:schemeClr val="tx1"/>
                          </a:solidFill>
                        </a:rPr>
                        <a:t>Identify who the POS transaction was conducted with? Are we able to understand what type of entity it is? Retail Store? Online Market Place? Money Transmitter? </a:t>
                      </a:r>
                    </a:p>
                    <a:p>
                      <a:pPr marL="228600" indent="-228600">
                        <a:buAutoNum type="arabicPeriod"/>
                      </a:pPr>
                      <a:r>
                        <a:rPr lang="en-US" sz="1200" dirty="0">
                          <a:solidFill>
                            <a:schemeClr val="tx1"/>
                          </a:solidFill>
                        </a:rPr>
                        <a:t>Infer on the purpose of the transaction based on the type of entities the transactions were conducted and the value of the transaction. For Example, if the transaction were conducted with a hotel, it is reasonable to infer the alerted activity may be for travel. If the transaction occurred with Wal-Mart (a general retail store) for over $2k, the transaction could be for a bigger ticket retail item, such as a new large-screen television or laptop</a:t>
                      </a:r>
                    </a:p>
                    <a:p>
                      <a:pPr marL="228600" indent="-228600">
                        <a:buAutoNum type="arabicPeriod"/>
                      </a:pPr>
                      <a:r>
                        <a:rPr lang="en-US" sz="1200" dirty="0">
                          <a:solidFill>
                            <a:schemeClr val="tx1"/>
                          </a:solidFill>
                        </a:rPr>
                        <a:t>Assess initial “reasonableness” of the transaction(s) based on value and type of entity (does the transaction “make sense”). For example, a $5k transaction with a luxury goods store makes sense, as single items from these stores cost this much. However, a $5k transaction with a grocery store may not, as this is not what someone would typically spend at a grocery store for a single transaction. </a:t>
                      </a:r>
                    </a:p>
                    <a:p>
                      <a:pPr marL="0" indent="0">
                        <a:buFont typeface="Arial" panose="020B0604020202020204" pitchFamily="34" charset="0"/>
                        <a:buNone/>
                      </a:pPr>
                      <a:endParaRPr lang="en-US" sz="1200" dirty="0">
                        <a:solidFill>
                          <a:schemeClr val="tx1"/>
                        </a:solidFill>
                      </a:endParaRPr>
                    </a:p>
                    <a:p>
                      <a:r>
                        <a:rPr lang="en-US" sz="12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The following are potential indicators of risks, that if cannot be mitigated by following the review steps in the column to the left, could warrant escalation: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alerted POS transaction(s) appear large given the entity the transaction is conducted with, and there is no other or very limited activity in the account/card, the account/card appeared to be funded intentionally to conduct the transaction</a:t>
                      </a:r>
                    </a:p>
                    <a:p>
                      <a:pPr marL="0" indent="0">
                        <a:buFont typeface="Arial" panose="020B0604020202020204" pitchFamily="34" charse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customer conducts frequent transactions with the same or with similar entities as the alerted transaction(s), and this activity does not appear consistent with normal living expenses or expectations for the program (frequent and large transactions with luxury retailers, ecommerce sites, money transmitters, gambling sites may not be reasonable, and could be indicative of suspicious behavior)</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Material negative news that indicates that the customer may derive their income from criminal/illegitimate means  </a:t>
                      </a:r>
                    </a:p>
                    <a:p>
                      <a:pPr marL="0" indent="0">
                        <a:buFont typeface="Arial" panose="020B0604020202020204" pitchFamily="34" charset="0"/>
                        <a:buNone/>
                      </a:pPr>
                      <a:endParaRPr lang="en-US" sz="1200" dirty="0">
                        <a:solidFill>
                          <a:schemeClr val="tx1"/>
                        </a:solidFill>
                      </a:endParaRPr>
                    </a:p>
                    <a:p>
                      <a:pPr marL="0" indent="0">
                        <a:buFont typeface="Arial" panose="020B0604020202020204" pitchFamily="34" charset="0"/>
                        <a:buNone/>
                      </a:pPr>
                      <a:r>
                        <a:rPr lang="en-US" sz="12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655347"/>
                  </a:ext>
                </a:extLst>
              </a:tr>
            </a:tbl>
          </a:graphicData>
        </a:graphic>
      </p:graphicFrame>
    </p:spTree>
    <p:extLst>
      <p:ext uri="{BB962C8B-B14F-4D97-AF65-F5344CB8AC3E}">
        <p14:creationId xmlns:p14="http://schemas.microsoft.com/office/powerpoint/2010/main" val="3197485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33F3A-A9A0-EA4D-E9C1-8F2B71709618}"/>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E04D939-78F1-76EA-D33D-159866D07315}"/>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Guidelines-Large POS Transaction(s) (2 of 2)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618A50D3-49CD-A263-80C4-F7C2ED074FD9}"/>
              </a:ext>
            </a:extLst>
          </p:cNvPr>
          <p:cNvGraphicFramePr>
            <a:graphicFrameLocks noGrp="1"/>
          </p:cNvGraphicFramePr>
          <p:nvPr>
            <p:extLst>
              <p:ext uri="{D42A27DB-BD31-4B8C-83A1-F6EECF244321}">
                <p14:modId xmlns:p14="http://schemas.microsoft.com/office/powerpoint/2010/main" val="872319238"/>
              </p:ext>
            </p:extLst>
          </p:nvPr>
        </p:nvGraphicFramePr>
        <p:xfrm>
          <a:off x="468086" y="937381"/>
          <a:ext cx="11484428" cy="5857083"/>
        </p:xfrm>
        <a:graphic>
          <a:graphicData uri="http://schemas.openxmlformats.org/drawingml/2006/table">
            <a:tbl>
              <a:tblPr firstRow="1" bandRow="1">
                <a:tableStyleId>{5C22544A-7EE6-4342-B048-85BDC9FD1C3A}</a:tableStyleId>
              </a:tblPr>
              <a:tblGrid>
                <a:gridCol w="2108134">
                  <a:extLst>
                    <a:ext uri="{9D8B030D-6E8A-4147-A177-3AD203B41FA5}">
                      <a16:colId xmlns:a16="http://schemas.microsoft.com/office/drawing/2014/main" val="555143759"/>
                    </a:ext>
                  </a:extLst>
                </a:gridCol>
                <a:gridCol w="6134425">
                  <a:extLst>
                    <a:ext uri="{9D8B030D-6E8A-4147-A177-3AD203B41FA5}">
                      <a16:colId xmlns:a16="http://schemas.microsoft.com/office/drawing/2014/main" val="2349788846"/>
                    </a:ext>
                  </a:extLst>
                </a:gridCol>
                <a:gridCol w="3241869">
                  <a:extLst>
                    <a:ext uri="{9D8B030D-6E8A-4147-A177-3AD203B41FA5}">
                      <a16:colId xmlns:a16="http://schemas.microsoft.com/office/drawing/2014/main" val="3423494171"/>
                    </a:ext>
                  </a:extLst>
                </a:gridCol>
              </a:tblGrid>
              <a:tr h="279243">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649290">
                <a:tc>
                  <a:txBody>
                    <a:bodyPr/>
                    <a:lstStyle/>
                    <a:p>
                      <a:r>
                        <a:rPr lang="en-US" sz="1200" dirty="0">
                          <a:solidFill>
                            <a:schemeClr val="tx1"/>
                          </a:solidFill>
                        </a:rPr>
                        <a:t>A single or a few large POS transactions.</a:t>
                      </a:r>
                    </a:p>
                    <a:p>
                      <a:endParaRPr lang="en-US" sz="1200" dirty="0">
                        <a:solidFill>
                          <a:schemeClr val="tx1"/>
                        </a:solidFill>
                      </a:endParaRPr>
                    </a:p>
                    <a:p>
                      <a:r>
                        <a:rPr lang="en-US" sz="1200" dirty="0">
                          <a:solidFill>
                            <a:schemeClr val="tx1"/>
                          </a:solidFill>
                        </a:rPr>
                        <a:t>Alerted transactions tend to be larger than other POS transactions in the account and are often conducted with retail stores, hotels, airlines, online marketplaces (e.g., </a:t>
                      </a:r>
                      <a:r>
                        <a:rPr lang="en-US" sz="1200" dirty="0" err="1">
                          <a:solidFill>
                            <a:schemeClr val="tx1"/>
                          </a:solidFill>
                        </a:rPr>
                        <a:t>ebay</a:t>
                      </a:r>
                      <a:r>
                        <a:rPr lang="en-US" sz="1200" dirty="0">
                          <a:solidFill>
                            <a:schemeClr val="tx1"/>
                          </a:solidFill>
                        </a:rPr>
                        <a:t>), gaming/gambling sites, or with other money transfer services (e.g., PayPal)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4. “Test” initial assessment of activity to draw a conclusion based on assessment of external/internal information and other transactions (i.e., non-alerted activity):</a:t>
                      </a:r>
                    </a:p>
                    <a:p>
                      <a:pPr marL="0" inden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Assess other POS transactions and card/account activity, are there other transactions with the same entity as the alerted transactions? A one-off large transaction is not necessarily suspicious or concerning, especially if other account activity is generally consistent with living expenses. In the example of the grocery store above, even if the single transaction seems large for a grocery store, this activity can be mitigated if 1) the transaction appears to be a one-off/limited, 2) If alerted activity was one-off, the value of alerted transaction(s) were not excessive (a single 5k transaction can be assessed as reasonable, however a single $20k transaction with a grocery store would be difficult to justify as reasonable. Similarly, in the example of the $5k transaction with the luxury retailer above, a single transactions could be reasonable, however if the customer frequently conducts transactions with the same or similar entities, the overall card/account usage may not be consistent with reasonable expected usage   </a:t>
                      </a:r>
                    </a:p>
                    <a:p>
                      <a:pPr marL="171450" indent="-171450">
                        <a:buFont typeface="Arial" panose="020B0604020202020204" pitchFamily="34" charset="0"/>
                        <a:buChar char="•"/>
                      </a:pPr>
                      <a:r>
                        <a:rPr lang="en-US" sz="1200" dirty="0">
                          <a:solidFill>
                            <a:schemeClr val="tx1"/>
                          </a:solidFill>
                        </a:rPr>
                        <a:t>Review/understand how the activity was funded. Was there anything unusual about how the card/account was funded around the time of the transaction? A large transaction can be potentially mitigated if the transaction was funded by normal fundings patterns for the account, payroll direct deposits and/or a long-standing balance. (it can be inferred that the activity was funded by long-standing balance, if there were no credit transactions to the account for a similar value around the time of the alerted POS transaction). (Note: even if the transactions appear to have been intentionally funded, this does not necessarily warrant an escalation if the activity can be mitigated as one-off/limited or otherwise legitimate) </a:t>
                      </a:r>
                    </a:p>
                    <a:p>
                      <a:pPr marL="171450" indent="-171450">
                        <a:buFont typeface="Arial" panose="020B0604020202020204" pitchFamily="34" charset="0"/>
                        <a:buChar char="•"/>
                      </a:pPr>
                      <a:r>
                        <a:rPr lang="en-US" sz="1200" dirty="0">
                          <a:solidFill>
                            <a:schemeClr val="tx1"/>
                          </a:solidFill>
                        </a:rPr>
                        <a:t>Assess what we do know about the customer, while not the primary mitigating factor, if we are able to understand that the customer has income from legitimate means, this can mitigate a large POS transaction </a:t>
                      </a:r>
                    </a:p>
                    <a:p>
                      <a:pPr marL="0" indent="0">
                        <a:buFont typeface="Arial" panose="020B0604020202020204" pitchFamily="34" charset="0"/>
                        <a:buNone/>
                      </a:pPr>
                      <a:endParaRPr lang="en-US" sz="1200" dirty="0">
                        <a:solidFill>
                          <a:schemeClr val="tx1"/>
                        </a:solidFill>
                      </a:endParaRPr>
                    </a:p>
                    <a:p>
                      <a:r>
                        <a:rPr lang="en-US" sz="12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The following are potential indicators of risks, that if cannot be mitigated by following the review steps in the column to the left, could warrant escalation: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alerted POS transaction(s) appears large given the entity the transaction is conducted with, and there is no other or very limited activity in the account/card, the account/card appeared to be funded intentionally to conduct the transaction</a:t>
                      </a:r>
                    </a:p>
                    <a:p>
                      <a:pPr marL="0" indent="0">
                        <a:buFont typeface="Arial" panose="020B0604020202020204" pitchFamily="34" charse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customer conducts frequent transactions with the same or with similar entities as the alerted transaction(s), and this activity does not appear consistent with normal living expenses (frequent and large transactions with luxury retailers, ecommerce sites, money transmitters, gambling sites may not be reasonable, and could be indicative of suspicious behavior)</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Material negative news that indicates that the customer may derive their income from criminal/illegitimate means  </a:t>
                      </a: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3655347"/>
                  </a:ext>
                </a:extLst>
              </a:tr>
            </a:tbl>
          </a:graphicData>
        </a:graphic>
      </p:graphicFrame>
    </p:spTree>
    <p:extLst>
      <p:ext uri="{BB962C8B-B14F-4D97-AF65-F5344CB8AC3E}">
        <p14:creationId xmlns:p14="http://schemas.microsoft.com/office/powerpoint/2010/main" val="1063092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1A033-BFAC-866C-6A98-FDA3477F4FC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7ED3352-25FB-86E8-EBF3-0859884CB83A}"/>
              </a:ext>
            </a:extLst>
          </p:cNvPr>
          <p:cNvSpPr>
            <a:spLocks noGrp="1"/>
          </p:cNvSpPr>
          <p:nvPr>
            <p:ph type="title"/>
          </p:nvPr>
        </p:nvSpPr>
        <p:spPr>
          <a:xfrm>
            <a:off x="201254" y="306126"/>
            <a:ext cx="11267305" cy="398954"/>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Guidelines-Frequent POS(s) Transactions (1 of 2)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67D5DF51-84CE-0033-ED03-3D37DC5189FE}"/>
              </a:ext>
            </a:extLst>
          </p:cNvPr>
          <p:cNvGraphicFramePr>
            <a:graphicFrameLocks noGrp="1"/>
          </p:cNvGraphicFramePr>
          <p:nvPr>
            <p:extLst>
              <p:ext uri="{D42A27DB-BD31-4B8C-83A1-F6EECF244321}">
                <p14:modId xmlns:p14="http://schemas.microsoft.com/office/powerpoint/2010/main" val="1357721658"/>
              </p:ext>
            </p:extLst>
          </p:nvPr>
        </p:nvGraphicFramePr>
        <p:xfrm>
          <a:off x="468086" y="937381"/>
          <a:ext cx="11353013" cy="3571240"/>
        </p:xfrm>
        <a:graphic>
          <a:graphicData uri="http://schemas.openxmlformats.org/drawingml/2006/table">
            <a:tbl>
              <a:tblPr firstRow="1" bandRow="1">
                <a:tableStyleId>{5C22544A-7EE6-4342-B048-85BDC9FD1C3A}</a:tableStyleId>
              </a:tblPr>
              <a:tblGrid>
                <a:gridCol w="2084011">
                  <a:extLst>
                    <a:ext uri="{9D8B030D-6E8A-4147-A177-3AD203B41FA5}">
                      <a16:colId xmlns:a16="http://schemas.microsoft.com/office/drawing/2014/main" val="555143759"/>
                    </a:ext>
                  </a:extLst>
                </a:gridCol>
                <a:gridCol w="6064229">
                  <a:extLst>
                    <a:ext uri="{9D8B030D-6E8A-4147-A177-3AD203B41FA5}">
                      <a16:colId xmlns:a16="http://schemas.microsoft.com/office/drawing/2014/main" val="2349788846"/>
                    </a:ext>
                  </a:extLst>
                </a:gridCol>
                <a:gridCol w="3204773">
                  <a:extLst>
                    <a:ext uri="{9D8B030D-6E8A-4147-A177-3AD203B41FA5}">
                      <a16:colId xmlns:a16="http://schemas.microsoft.com/office/drawing/2014/main" val="3423494171"/>
                    </a:ext>
                  </a:extLst>
                </a:gridCol>
              </a:tblGrid>
              <a:tr h="370840">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70840">
                <a:tc>
                  <a:txBody>
                    <a:bodyPr/>
                    <a:lstStyle/>
                    <a:p>
                      <a:r>
                        <a:rPr lang="en-US" sz="1200" dirty="0">
                          <a:solidFill>
                            <a:schemeClr val="tx1"/>
                          </a:solidFill>
                        </a:rPr>
                        <a:t>Multiple POS transactions with the same merchant(s)/entities </a:t>
                      </a:r>
                    </a:p>
                    <a:p>
                      <a:endParaRPr lang="en-US" sz="1200" dirty="0">
                        <a:solidFill>
                          <a:schemeClr val="tx1"/>
                        </a:solidFill>
                      </a:endParaRPr>
                    </a:p>
                    <a:p>
                      <a:r>
                        <a:rPr lang="en-US" sz="1200" dirty="0">
                          <a:solidFill>
                            <a:schemeClr val="tx1"/>
                          </a:solidFill>
                        </a:rPr>
                        <a:t>Are often conducted with ecommerce sites such as Amazon and </a:t>
                      </a:r>
                      <a:r>
                        <a:rPr lang="en-US" sz="1200" dirty="0" err="1">
                          <a:solidFill>
                            <a:schemeClr val="tx1"/>
                          </a:solidFill>
                        </a:rPr>
                        <a:t>Ebay</a:t>
                      </a:r>
                      <a:r>
                        <a:rPr lang="en-US" sz="1200" dirty="0">
                          <a:solidFill>
                            <a:schemeClr val="tx1"/>
                          </a:solidFill>
                        </a:rPr>
                        <a:t> and money transmitters such as PayPal (Note: Large transactions with grocery/department stores such as HEB, Publix, and Wal-Mart may actually be money transmissions, as these  stores offer these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As this activity tends to alert for multiple POS transactions that occur with the same entity. This activity can be mitigated if the alerted activity appears limited/one-off, however multiple factors should be considered and documented in the written narrative supporting the decision to either close or to escalate. Below are the steps that should be followed when assessing this activity:</a:t>
                      </a:r>
                    </a:p>
                    <a:p>
                      <a:pPr marL="0" indent="0">
                        <a:buNone/>
                      </a:pPr>
                      <a:endParaRPr lang="en-US" sz="1200" dirty="0">
                        <a:solidFill>
                          <a:schemeClr val="tx1"/>
                        </a:solidFill>
                      </a:endParaRPr>
                    </a:p>
                    <a:p>
                      <a:pPr marL="228600" indent="-228600">
                        <a:buAutoNum type="arabicPeriod"/>
                      </a:pPr>
                      <a:r>
                        <a:rPr lang="en-US" sz="1200" dirty="0">
                          <a:solidFill>
                            <a:schemeClr val="tx1"/>
                          </a:solidFill>
                        </a:rPr>
                        <a:t>Identify who the POS transaction was conducted with? Are we able to understand what type of entity it is? Retail Store? Online Market Place? Money Transmitter? </a:t>
                      </a:r>
                    </a:p>
                    <a:p>
                      <a:pPr marL="228600" indent="-228600">
                        <a:buAutoNum type="arabicPeriod"/>
                      </a:pPr>
                      <a:r>
                        <a:rPr lang="en-US" sz="1200" dirty="0">
                          <a:solidFill>
                            <a:schemeClr val="tx1"/>
                          </a:solidFill>
                        </a:rPr>
                        <a:t>Infer on the purpose of the transaction based on the type of entities the transactions were conducted and the value of the transaction. </a:t>
                      </a:r>
                    </a:p>
                    <a:p>
                      <a:pPr marL="228600" indent="-228600">
                        <a:buAutoNum type="arabicPeriod"/>
                      </a:pPr>
                      <a:r>
                        <a:rPr lang="en-US" sz="1200" dirty="0">
                          <a:solidFill>
                            <a:schemeClr val="tx1"/>
                          </a:solidFill>
                        </a:rPr>
                        <a:t>Evaluate wither it is reasonable for there to be multiple transactions, is the activity reasonable based on the volume, value, and time period of the transactions? </a:t>
                      </a:r>
                    </a:p>
                    <a:p>
                      <a:pPr marL="228600" indent="-228600">
                        <a:buAutoNum type="arabicPeriod"/>
                      </a:pPr>
                      <a:r>
                        <a:rPr lang="en-US" sz="1200" dirty="0">
                          <a:solidFill>
                            <a:schemeClr val="tx1"/>
                          </a:solidFill>
                        </a:rPr>
                        <a:t>Based on the above assess initial “reasonableness” of the alerted transaction(s), can we infer any “reasonable purpose” for the transactions? Or does the activity appear unusual that could potentially warrant an escalation?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The following are potential indicators of risks, that if cannot be mitigated by following the review steps in the column to the left, could warrant escalation:</a:t>
                      </a:r>
                    </a:p>
                    <a:p>
                      <a:pPr marL="0" indent="0">
                        <a:buFont typeface="Arial" panose="020B0604020202020204" pitchFamily="34" charse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alerted activity is not a one-off or limited, and given the volume/value is not indicative of normal or legitimate usage</a:t>
                      </a:r>
                    </a:p>
                    <a:p>
                      <a:pPr marL="0" indent="0">
                        <a:buFont typeface="Arial" panose="020B0604020202020204" pitchFamily="34" charset="0"/>
                        <a:buNone/>
                      </a:pPr>
                      <a:r>
                        <a:rPr lang="en-US" sz="1200" dirty="0">
                          <a:solidFill>
                            <a:schemeClr val="tx1"/>
                          </a:solidFill>
                        </a:rPr>
                        <a:t> </a:t>
                      </a:r>
                    </a:p>
                    <a:p>
                      <a:pPr marL="171450" indent="-171450">
                        <a:buFont typeface="Arial" panose="020B0604020202020204" pitchFamily="34" charset="0"/>
                        <a:buChar char="•"/>
                      </a:pPr>
                      <a:r>
                        <a:rPr lang="en-US" sz="1200" dirty="0">
                          <a:solidFill>
                            <a:schemeClr val="tx1"/>
                          </a:solidFill>
                        </a:rPr>
                        <a:t>Customer conducts frequent transactions with entities such as Hotels, luxury goods, ecommerce sites, gambling sites, and money transmitter </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Material negative news that indicates that the customer may derive their income from criminal/illegitimate means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5223985"/>
                  </a:ext>
                </a:extLst>
              </a:tr>
            </a:tbl>
          </a:graphicData>
        </a:graphic>
      </p:graphicFrame>
    </p:spTree>
    <p:extLst>
      <p:ext uri="{BB962C8B-B14F-4D97-AF65-F5344CB8AC3E}">
        <p14:creationId xmlns:p14="http://schemas.microsoft.com/office/powerpoint/2010/main" val="32573148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706D4-FCD6-EDA8-208B-6557F24EA55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4AFD61B5-5027-E7D6-4440-6A53B4832D2A}"/>
              </a:ext>
            </a:extLst>
          </p:cNvPr>
          <p:cNvSpPr>
            <a:spLocks noGrp="1"/>
          </p:cNvSpPr>
          <p:nvPr>
            <p:ph type="title"/>
          </p:nvPr>
        </p:nvSpPr>
        <p:spPr>
          <a:xfrm>
            <a:off x="201254" y="306127"/>
            <a:ext cx="11212221" cy="376920"/>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Guidelines-Frequent POS(s) Transactions (2 of 2)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D0BAA5D8-4706-CEDB-33FB-D465DCD288AA}"/>
              </a:ext>
            </a:extLst>
          </p:cNvPr>
          <p:cNvGraphicFramePr>
            <a:graphicFrameLocks noGrp="1"/>
          </p:cNvGraphicFramePr>
          <p:nvPr>
            <p:extLst>
              <p:ext uri="{D42A27DB-BD31-4B8C-83A1-F6EECF244321}">
                <p14:modId xmlns:p14="http://schemas.microsoft.com/office/powerpoint/2010/main" val="1294196103"/>
              </p:ext>
            </p:extLst>
          </p:nvPr>
        </p:nvGraphicFramePr>
        <p:xfrm>
          <a:off x="66102" y="794160"/>
          <a:ext cx="11909234" cy="5765800"/>
        </p:xfrm>
        <a:graphic>
          <a:graphicData uri="http://schemas.openxmlformats.org/drawingml/2006/table">
            <a:tbl>
              <a:tblPr firstRow="1" bandRow="1">
                <a:tableStyleId>{5C22544A-7EE6-4342-B048-85BDC9FD1C3A}</a:tableStyleId>
              </a:tblPr>
              <a:tblGrid>
                <a:gridCol w="1717377">
                  <a:extLst>
                    <a:ext uri="{9D8B030D-6E8A-4147-A177-3AD203B41FA5}">
                      <a16:colId xmlns:a16="http://schemas.microsoft.com/office/drawing/2014/main" val="555143759"/>
                    </a:ext>
                  </a:extLst>
                </a:gridCol>
                <a:gridCol w="7627815">
                  <a:extLst>
                    <a:ext uri="{9D8B030D-6E8A-4147-A177-3AD203B41FA5}">
                      <a16:colId xmlns:a16="http://schemas.microsoft.com/office/drawing/2014/main" val="2349788846"/>
                    </a:ext>
                  </a:extLst>
                </a:gridCol>
                <a:gridCol w="2564042">
                  <a:extLst>
                    <a:ext uri="{9D8B030D-6E8A-4147-A177-3AD203B41FA5}">
                      <a16:colId xmlns:a16="http://schemas.microsoft.com/office/drawing/2014/main" val="3423494171"/>
                    </a:ext>
                  </a:extLst>
                </a:gridCol>
              </a:tblGrid>
              <a:tr h="370840">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70840">
                <a:tc>
                  <a:txBody>
                    <a:bodyPr/>
                    <a:lstStyle/>
                    <a:p>
                      <a:r>
                        <a:rPr lang="en-US" sz="1200" dirty="0">
                          <a:solidFill>
                            <a:schemeClr val="tx1"/>
                          </a:solidFill>
                        </a:rPr>
                        <a:t>Multiple POS transactions with the same merchant(s)/entities </a:t>
                      </a:r>
                    </a:p>
                    <a:p>
                      <a:endParaRPr lang="en-US" sz="1200" dirty="0">
                        <a:solidFill>
                          <a:schemeClr val="tx1"/>
                        </a:solidFill>
                      </a:endParaRPr>
                    </a:p>
                    <a:p>
                      <a:r>
                        <a:rPr lang="en-US" sz="1200" dirty="0">
                          <a:solidFill>
                            <a:schemeClr val="tx1"/>
                          </a:solidFill>
                        </a:rPr>
                        <a:t>Are often conducted with ecommerce sites such as Amazon and </a:t>
                      </a:r>
                      <a:r>
                        <a:rPr lang="en-US" sz="1200" dirty="0" err="1">
                          <a:solidFill>
                            <a:schemeClr val="tx1"/>
                          </a:solidFill>
                        </a:rPr>
                        <a:t>Ebay</a:t>
                      </a:r>
                      <a:r>
                        <a:rPr lang="en-US" sz="1200" dirty="0">
                          <a:solidFill>
                            <a:schemeClr val="tx1"/>
                          </a:solidFill>
                        </a:rPr>
                        <a:t> and money transmitters such as PayPal (Note: Large transactions with grocery/department stores such as HEB, Publix, and Wal-Mart may actually be money transmissions, as these  stores offer these services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buNone/>
                      </a:pPr>
                      <a:r>
                        <a:rPr lang="en-US" sz="1200" dirty="0">
                          <a:solidFill>
                            <a:schemeClr val="tx1"/>
                          </a:solidFill>
                        </a:rPr>
                        <a:t>5. Test” initial assessment of activity to draw a conclusion based on assessment of external/internal information and other transactions (i.e., non-alerted activity):</a:t>
                      </a:r>
                    </a:p>
                    <a:p>
                      <a:pPr marL="0" inden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Does the alerted activity represent a pattern of usage in the account? Are there other transactions with the same entity(s) as the alerted transactions? The activity can be potentially mitigated if the alerted activity is one-off or limited (there are no other or there is a limited amount of similar transactions in the card/account) and the activity could be indicative of legitimate activity such as travel, or a personal re-location. </a:t>
                      </a:r>
                    </a:p>
                    <a:p>
                      <a:pPr marL="171450" indent="-171450">
                        <a:buFont typeface="Arial" panose="020B0604020202020204" pitchFamily="34" charset="0"/>
                        <a:buChar char="•"/>
                      </a:pPr>
                      <a:r>
                        <a:rPr lang="en-US" sz="1200" dirty="0">
                          <a:solidFill>
                            <a:schemeClr val="tx1"/>
                          </a:solidFill>
                        </a:rPr>
                        <a:t>If there are other similar patterns of activity observed in the account, based on the volume, value, frequency (and who the transactions are conducted with) does this activity seem consistent with normal living expenses, or perhaps a legitimate hobby? For example, if the transactions are conducted with a hotel (and the transactions occur often), this activity is not indicative of normal living expenses and could be indicative of illegitimate activity such as human trafficking. If the transactions are conducted with an entity that would normally be considered consistent with living expenses, is the activity reasonable based on the volume/value/frequency (assess the volume, for example if the customer is spending $2k a week at Wal-Mart, this is beyond patterns of “normal living expenses.”)</a:t>
                      </a:r>
                    </a:p>
                    <a:p>
                      <a:pPr marL="171450" indent="-171450">
                        <a:buFont typeface="Arial" panose="020B0604020202020204" pitchFamily="34" charset="0"/>
                        <a:buChar char="•"/>
                      </a:pPr>
                      <a:r>
                        <a:rPr lang="en-US" sz="1200" dirty="0">
                          <a:solidFill>
                            <a:schemeClr val="tx1"/>
                          </a:solidFill>
                        </a:rPr>
                        <a:t>Transactions with entities that would not be considered “living expenses” (ecommerce, money transmitters, gambling gaming sites) may not necessarily be unusual (even if there are transactions with these entities outside of alerted activity), if the overall volume/value of these transactions is </a:t>
                      </a:r>
                      <a:r>
                        <a:rPr lang="en-US" sz="1200" b="1" dirty="0">
                          <a:solidFill>
                            <a:schemeClr val="tx1"/>
                          </a:solidFill>
                        </a:rPr>
                        <a:t>low. </a:t>
                      </a:r>
                      <a:r>
                        <a:rPr lang="en-US" sz="1200" b="0" dirty="0">
                          <a:solidFill>
                            <a:schemeClr val="tx1"/>
                          </a:solidFill>
                        </a:rPr>
                        <a:t>(Mitigation could be further supported if other activity appears consistent with living expenses. </a:t>
                      </a:r>
                      <a:r>
                        <a:rPr lang="en-US" sz="1200" dirty="0">
                          <a:solidFill>
                            <a:schemeClr val="tx1"/>
                          </a:solidFill>
                        </a:rPr>
                        <a:t>     </a:t>
                      </a:r>
                    </a:p>
                    <a:p>
                      <a:pPr marL="171450" indent="-171450">
                        <a:buFont typeface="Arial" panose="020B0604020202020204" pitchFamily="34" charset="0"/>
                        <a:buChar char="•"/>
                      </a:pPr>
                      <a:r>
                        <a:rPr lang="en-US" sz="1200" dirty="0">
                          <a:solidFill>
                            <a:schemeClr val="tx1"/>
                          </a:solidFill>
                        </a:rPr>
                        <a:t>Review/understand how the activity was funded. Was there anything unusual about how the card/account was funded around the time of the transaction? Activity can be potentially mitigated if the transaction was funded by normal fundings patterns for the account, payroll direct deposits, and/or a long-standing balance. (it can be inferred that the activity was funded by long-standing balance, if there were no credit transactions to the account for a similar value around the time of the alerted POS transaction). (Note: even if the transactions appear to have been intentionally funded, this does not necessarily warrant an escalation if the activity can be mitigated as one-off/limited or otherwise legitimate)  </a:t>
                      </a:r>
                    </a:p>
                    <a:p>
                      <a:pPr marL="171450" indent="-171450">
                        <a:buFont typeface="Arial" panose="020B0604020202020204" pitchFamily="34" charset="0"/>
                        <a:buChar char="•"/>
                      </a:pPr>
                      <a:r>
                        <a:rPr lang="en-US" sz="1200" dirty="0">
                          <a:solidFill>
                            <a:schemeClr val="tx1"/>
                          </a:solidFill>
                        </a:rPr>
                        <a:t>Assess what we do know about the customer, while not the primary mitigating factor, if we are able to understand that the customer has income from legitimate means, this can mitigate a large POS transaction </a:t>
                      </a:r>
                    </a:p>
                    <a:p>
                      <a:pPr marL="0" indent="0">
                        <a:buNone/>
                      </a:pP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The following are potential indicators of risks, that if cannot be mitigated by following the review steps in the column to the left, could warrant escalation:</a:t>
                      </a:r>
                    </a:p>
                    <a:p>
                      <a:pPr marL="0" indent="0">
                        <a:buFont typeface="Arial" panose="020B0604020202020204" pitchFamily="34" charse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 alerted activity is not a one-off or limited, and given the volume/value is not indicative of normal or legitimate usage</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Frequent POS transactions with the same entity that cannot be substantiated as normal or expected expenses </a:t>
                      </a:r>
                    </a:p>
                    <a:p>
                      <a:pPr marL="0" indent="0">
                        <a:buFont typeface="Arial" panose="020B0604020202020204" pitchFamily="34" charset="0"/>
                        <a:buNone/>
                      </a:pPr>
                      <a:r>
                        <a:rPr lang="en-US" sz="1200" dirty="0">
                          <a:solidFill>
                            <a:schemeClr val="tx1"/>
                          </a:solidFill>
                        </a:rPr>
                        <a:t> </a:t>
                      </a:r>
                    </a:p>
                    <a:p>
                      <a:pPr marL="171450" indent="-171450">
                        <a:buFont typeface="Arial" panose="020B0604020202020204" pitchFamily="34" charset="0"/>
                        <a:buChar char="•"/>
                      </a:pPr>
                      <a:r>
                        <a:rPr lang="en-US" sz="1200" dirty="0">
                          <a:solidFill>
                            <a:schemeClr val="tx1"/>
                          </a:solidFill>
                        </a:rPr>
                        <a:t>Customer conducts frequent transactions with entities such as Hotels, luxury goods, ecommerce sites, gambling sites, and money transmitter </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Material negative news that indicates that the customer may derive their income from criminal/illegitimate means  </a:t>
                      </a: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525223985"/>
                  </a:ext>
                </a:extLst>
              </a:tr>
            </a:tbl>
          </a:graphicData>
        </a:graphic>
      </p:graphicFrame>
    </p:spTree>
    <p:extLst>
      <p:ext uri="{BB962C8B-B14F-4D97-AF65-F5344CB8AC3E}">
        <p14:creationId xmlns:p14="http://schemas.microsoft.com/office/powerpoint/2010/main" val="21838839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9860F7-5619-BDE3-9219-8B3EAEAB3853}"/>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B41460-7318-48F8-DF6F-5444854C4422}"/>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Guidelines-ATM Withdrawals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B330D641-C5DC-042B-EB97-3364D89A9640}"/>
              </a:ext>
            </a:extLst>
          </p:cNvPr>
          <p:cNvGraphicFramePr>
            <a:graphicFrameLocks noGrp="1"/>
          </p:cNvGraphicFramePr>
          <p:nvPr>
            <p:extLst>
              <p:ext uri="{D42A27DB-BD31-4B8C-83A1-F6EECF244321}">
                <p14:modId xmlns:p14="http://schemas.microsoft.com/office/powerpoint/2010/main" val="360665196"/>
              </p:ext>
            </p:extLst>
          </p:nvPr>
        </p:nvGraphicFramePr>
        <p:xfrm>
          <a:off x="201255" y="791670"/>
          <a:ext cx="11718997" cy="5948680"/>
        </p:xfrm>
        <a:graphic>
          <a:graphicData uri="http://schemas.openxmlformats.org/drawingml/2006/table">
            <a:tbl>
              <a:tblPr firstRow="1" bandRow="1">
                <a:tableStyleId>{5C22544A-7EE6-4342-B048-85BDC9FD1C3A}</a:tableStyleId>
              </a:tblPr>
              <a:tblGrid>
                <a:gridCol w="1803815">
                  <a:extLst>
                    <a:ext uri="{9D8B030D-6E8A-4147-A177-3AD203B41FA5}">
                      <a16:colId xmlns:a16="http://schemas.microsoft.com/office/drawing/2014/main" val="555143759"/>
                    </a:ext>
                  </a:extLst>
                </a:gridCol>
                <a:gridCol w="6852491">
                  <a:extLst>
                    <a:ext uri="{9D8B030D-6E8A-4147-A177-3AD203B41FA5}">
                      <a16:colId xmlns:a16="http://schemas.microsoft.com/office/drawing/2014/main" val="2349788846"/>
                    </a:ext>
                  </a:extLst>
                </a:gridCol>
                <a:gridCol w="3062691">
                  <a:extLst>
                    <a:ext uri="{9D8B030D-6E8A-4147-A177-3AD203B41FA5}">
                      <a16:colId xmlns:a16="http://schemas.microsoft.com/office/drawing/2014/main" val="3423494171"/>
                    </a:ext>
                  </a:extLst>
                </a:gridCol>
              </a:tblGrid>
              <a:tr h="370840">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70840">
                <a:tc>
                  <a:txBody>
                    <a:bodyPr/>
                    <a:lstStyle/>
                    <a:p>
                      <a:r>
                        <a:rPr lang="en-US" sz="1200" dirty="0">
                          <a:solidFill>
                            <a:schemeClr val="tx1"/>
                          </a:solidFill>
                        </a:rPr>
                        <a:t>Frequent ATM withdrawals that generally occur over a short period of time. Transactions are often for similar amounts as many card programs have single/daily transaction limits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This activity tends to alert for multiple ATM withdrawals over a short period of time. This activity can be mitigated if the alerted activity appears limited/one-off, however multiple factors should be considered and documented in the written narrative supporting the decision to either close or to escalate. Below are the steps that should be followed when assessing this activity:</a:t>
                      </a:r>
                    </a:p>
                    <a:p>
                      <a:endParaRPr lang="en-US" sz="1200" dirty="0">
                        <a:solidFill>
                          <a:schemeClr val="tx1"/>
                        </a:solidFill>
                      </a:endParaRPr>
                    </a:p>
                    <a:p>
                      <a:pPr marL="228600" indent="-228600">
                        <a:buFont typeface="+mj-lt"/>
                        <a:buAutoNum type="arabicPeriod"/>
                      </a:pPr>
                      <a:r>
                        <a:rPr lang="en-US" sz="1200" dirty="0">
                          <a:solidFill>
                            <a:schemeClr val="tx1"/>
                          </a:solidFill>
                        </a:rPr>
                        <a:t>Evaluate the overall volume and frequency of the transactions. Based on the pattern, determine if it is reasonable for there to be multiple transactions (i.e., ATM limits)</a:t>
                      </a:r>
                    </a:p>
                    <a:p>
                      <a:pPr marL="228600" indent="-228600">
                        <a:buFont typeface="+mj-lt"/>
                        <a:buAutoNum type="arabicPeriod"/>
                      </a:pPr>
                      <a:r>
                        <a:rPr lang="en-US" sz="1200" dirty="0">
                          <a:solidFill>
                            <a:schemeClr val="tx1"/>
                          </a:solidFill>
                        </a:rPr>
                        <a:t>Use information on the transaction data to determine where the ATM withdrawals are occurring? Are they occurring near the customer’s address? Are they occurring near or close to a Casino?</a:t>
                      </a:r>
                    </a:p>
                    <a:p>
                      <a:pPr marL="228600" indent="-228600">
                        <a:buFont typeface="+mj-lt"/>
                        <a:buAutoNum type="arabicPeriod"/>
                      </a:pPr>
                      <a:r>
                        <a:rPr lang="en-US" sz="1200" dirty="0">
                          <a:solidFill>
                            <a:schemeClr val="tx1"/>
                          </a:solidFill>
                        </a:rPr>
                        <a:t>“Test” initial assessment of activity to draw a conclusion based on assessment of external/internal information and other transactions (i.e., non-alerted activity):</a:t>
                      </a:r>
                    </a:p>
                    <a:p>
                      <a:pPr marL="0" inden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Review/understand how the activity was funded. Was there anything unusual about how the card/account was funded around the time of the ATM withdrawals? Activity can be potentially mitigated if the transaction was funded by normal fundings patterns for the account, payroll direct deposits and/or a long-standing balance. (it can be inferred that the activity was funded by long-standing balance, if there were no credit transactions to the account for a similar value around the time of the alerted POS transaction). (Note: even if the transactions appear to have been intentionally funded, this does not necessarily warrant an escalation if the activity can be mitigated as one-off/limited or otherwise legitimate)</a:t>
                      </a:r>
                    </a:p>
                    <a:p>
                      <a:pPr marL="171450" indent="-171450">
                        <a:buFont typeface="Arial" panose="020B0604020202020204" pitchFamily="34" charset="0"/>
                        <a:buChar char="•"/>
                      </a:pPr>
                      <a:r>
                        <a:rPr lang="en-US" sz="1200" dirty="0">
                          <a:solidFill>
                            <a:schemeClr val="tx1"/>
                          </a:solidFill>
                        </a:rPr>
                        <a:t>Is there a pattern of ATM withdrawals in the account? Or is ATM withdrawal activity outside of the alerted activity limited?  If ATM withdrawal activity is limited outside of alerted activity, the activity could potentially be explained, for example, if ATM withdrawals occurred in a different location from the customer, and there are no or limited ATM withdrawal activity outside of the  alerted transactions, the ATM withdrawals activity could be explained as supporting travel (use non-alerted POS transaction occurring around the ATM withdrawals as context)</a:t>
                      </a:r>
                    </a:p>
                    <a:p>
                      <a:pPr marL="171450" indent="-171450">
                        <a:buFont typeface="Arial" panose="020B0604020202020204" pitchFamily="34" charset="0"/>
                        <a:buChar char="•"/>
                      </a:pPr>
                      <a:r>
                        <a:rPr lang="en-US" sz="1200" dirty="0">
                          <a:solidFill>
                            <a:schemeClr val="tx1"/>
                          </a:solidFill>
                        </a:rPr>
                        <a:t>Assess what we do know about the customer, while not the primary mitigating factor, if we are able to understand that the customer has income from legitimate means, this can mitigate the ATM withdrawal activity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The following are potential indicators of risks, that if cannot be mitigated by following the review steps in the column to the left, could warrant escalation: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There is a pattern of ATM withdrawal activity outside of the alerted transactions, and it is unclear on the source of credits to the account (Note: Card loads from the customer’s external Bank account or from a crypto wallet is not verifiable and cannot mitigate ongoing/frequent ATM withdrawal activity, however if the credits are verified payroll direct deposits, this could)</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ATM withdrawal activity funded by individuals that are not the Focal Entity or by multiple entities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Ongoing ATM withdrawal activity occurring in places different from there the customer lives and/or multiple geographic locations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Material negative news that indicates that the customer may derive their income from criminal/illegitimate means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200" dirty="0">
                        <a:solidFill>
                          <a:schemeClr val="tx1"/>
                        </a:solidFill>
                      </a:endParaRPr>
                    </a:p>
                    <a:p>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40214943"/>
                  </a:ext>
                </a:extLst>
              </a:tr>
            </a:tbl>
          </a:graphicData>
        </a:graphic>
      </p:graphicFrame>
    </p:spTree>
    <p:extLst>
      <p:ext uri="{BB962C8B-B14F-4D97-AF65-F5344CB8AC3E}">
        <p14:creationId xmlns:p14="http://schemas.microsoft.com/office/powerpoint/2010/main" val="1459197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F692A-E6E0-42DD-0116-F3116D9C81B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79E12969-1972-6193-8AE6-5385991686F9}"/>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Guidelines-Large Cash Withdrawal(s)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B2182045-CB0C-2718-DA2A-E82FAC2FA443}"/>
              </a:ext>
            </a:extLst>
          </p:cNvPr>
          <p:cNvGraphicFramePr>
            <a:graphicFrameLocks noGrp="1"/>
          </p:cNvGraphicFramePr>
          <p:nvPr>
            <p:extLst>
              <p:ext uri="{D42A27DB-BD31-4B8C-83A1-F6EECF244321}">
                <p14:modId xmlns:p14="http://schemas.microsoft.com/office/powerpoint/2010/main" val="403732178"/>
              </p:ext>
            </p:extLst>
          </p:nvPr>
        </p:nvGraphicFramePr>
        <p:xfrm>
          <a:off x="468086" y="1144209"/>
          <a:ext cx="11562333" cy="5034280"/>
        </p:xfrm>
        <a:graphic>
          <a:graphicData uri="http://schemas.openxmlformats.org/drawingml/2006/table">
            <a:tbl>
              <a:tblPr firstRow="1" bandRow="1">
                <a:tableStyleId>{5C22544A-7EE6-4342-B048-85BDC9FD1C3A}</a:tableStyleId>
              </a:tblPr>
              <a:tblGrid>
                <a:gridCol w="2131895">
                  <a:extLst>
                    <a:ext uri="{9D8B030D-6E8A-4147-A177-3AD203B41FA5}">
                      <a16:colId xmlns:a16="http://schemas.microsoft.com/office/drawing/2014/main" val="555143759"/>
                    </a:ext>
                  </a:extLst>
                </a:gridCol>
                <a:gridCol w="6643171">
                  <a:extLst>
                    <a:ext uri="{9D8B030D-6E8A-4147-A177-3AD203B41FA5}">
                      <a16:colId xmlns:a16="http://schemas.microsoft.com/office/drawing/2014/main" val="2349788846"/>
                    </a:ext>
                  </a:extLst>
                </a:gridCol>
                <a:gridCol w="2787267">
                  <a:extLst>
                    <a:ext uri="{9D8B030D-6E8A-4147-A177-3AD203B41FA5}">
                      <a16:colId xmlns:a16="http://schemas.microsoft.com/office/drawing/2014/main" val="3423494171"/>
                    </a:ext>
                  </a:extLst>
                </a:gridCol>
              </a:tblGrid>
              <a:tr h="370840">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70840">
                <a:tc>
                  <a:txBody>
                    <a:bodyPr/>
                    <a:lstStyle/>
                    <a:p>
                      <a:r>
                        <a:rPr lang="en-US" sz="1200" dirty="0">
                          <a:solidFill>
                            <a:schemeClr val="tx1"/>
                          </a:solidFill>
                        </a:rPr>
                        <a:t>Single or a few large withdrawals from account (Note: data often classifies these as “Cash Withdrawals” however these may actually be transfers to external accounts, this will vary by program).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The activity tends to alert for a single or few large debit transactions that are classified as “cash withdrawals.” The activity can be mitigated if the transaction appears to be a one-off and is not overly excessive, however multiple factors should be considered and documented in the written narrative supporting the decision to either close or to escalate. Below are the steps that should be followed when assessing this activity: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Determine if the transaction(s) is actually a real cash withdrawal or just a transfer to an external account (this may vary be program). If you are unsure, please consult team lead)</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Is there a reasonable explanation for the withdrawal given the value?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If it is not actually a cash withdrawal, can we determine where the funds are going (it is not unreasonable for the Focal Entity to transfer funds to their external account)</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Assess how the withdrawal was funded (Note: large withdrawals are often funded by corresponding credits, depending on the program, this activity is not necessarily unusual or suspicious). Was the withdrawal funded by verifiable credit activity in line with expectations for the customer/program?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lang="en-US" sz="1200" dirty="0">
                          <a:solidFill>
                            <a:schemeClr val="tx1"/>
                          </a:solidFill>
                        </a:rPr>
                        <a:t>Test initial assessment of activity to draw a conclusion based on assessment of external/internal information and other transactions (i.e., non-alerted activity):</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Is the alerted activity a one-off or is there a pattern of large withdrawals in the account </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Is there other activity in the account consistent with living expenses or the expected product usage?</a:t>
                      </a: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Assess what we do know about the customer, while not the primary mitigating factor, if we are able to understand that the customer has income from legitimate means, this can mitigate the withdrawal activity </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n-US" sz="1200" dirty="0">
                        <a:solidFill>
                          <a:schemeClr val="tx1"/>
                        </a:solidFill>
                      </a:endParaRPr>
                    </a:p>
                    <a:p>
                      <a:r>
                        <a:rPr lang="en-US" sz="1200" dirty="0">
                          <a:solidFill>
                            <a:schemeClr val="tx1"/>
                          </a:solidFill>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The following are potential indicators of risks, that if cannot be mitigated by following the review steps in the column to the left, could warrant escalation: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There is not a reasonable explanation for the transaction given the value </a:t>
                      </a:r>
                    </a:p>
                    <a:p>
                      <a:pPr marL="171450" indent="-171450">
                        <a:buFont typeface="Arial" panose="020B0604020202020204" pitchFamily="34" charset="0"/>
                        <a:buChar char="•"/>
                      </a:pPr>
                      <a:r>
                        <a:rPr lang="en-US" sz="1200" dirty="0">
                          <a:solidFill>
                            <a:schemeClr val="tx1"/>
                          </a:solidFill>
                        </a:rPr>
                        <a:t>There are other large value withdrawal transactions occurring in the account outside of the alerted activity</a:t>
                      </a:r>
                    </a:p>
                    <a:p>
                      <a:pPr marL="171450" indent="-171450">
                        <a:buFont typeface="Arial" panose="020B0604020202020204" pitchFamily="34" charset="0"/>
                        <a:buChar char="•"/>
                      </a:pPr>
                      <a:r>
                        <a:rPr lang="en-US" sz="1200" dirty="0">
                          <a:solidFill>
                            <a:schemeClr val="tx1"/>
                          </a:solidFill>
                        </a:rPr>
                        <a:t>The source of funds for a large transaction cannot be determined, or is funded by a third party with no clear or legitimate link to the Focal Entity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Material negative news that indicates that the customer may derive their income from criminal/illegitimate means  </a:t>
                      </a:r>
                    </a:p>
                    <a:p>
                      <a:pPr marL="0" indent="0">
                        <a:buFont typeface="Arial" panose="020B0604020202020204" pitchFamily="34" charset="0"/>
                        <a:buNone/>
                      </a:pPr>
                      <a:endParaRPr lang="en-US" sz="12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2765288"/>
                  </a:ext>
                </a:extLst>
              </a:tr>
            </a:tbl>
          </a:graphicData>
        </a:graphic>
      </p:graphicFrame>
    </p:spTree>
    <p:extLst>
      <p:ext uri="{BB962C8B-B14F-4D97-AF65-F5344CB8AC3E}">
        <p14:creationId xmlns:p14="http://schemas.microsoft.com/office/powerpoint/2010/main" val="35766983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733B3-4AB4-AECE-A0CD-F4A018F96906}"/>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DB821DCA-A7EA-632E-AB2D-AB3C48D06FFC}"/>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Common Transaction Patterns and Review Guidelines-Large Loads onto the Card </a:t>
            </a:r>
            <a:endParaRPr lang="en-US" sz="1900" dirty="0">
              <a:solidFill>
                <a:schemeClr val="tx1"/>
              </a:solidFill>
              <a:latin typeface="Open Sans"/>
              <a:ea typeface="Open Sans"/>
              <a:cs typeface="Open Sans"/>
            </a:endParaRPr>
          </a:p>
        </p:txBody>
      </p:sp>
      <p:graphicFrame>
        <p:nvGraphicFramePr>
          <p:cNvPr id="3" name="Table 2">
            <a:extLst>
              <a:ext uri="{FF2B5EF4-FFF2-40B4-BE49-F238E27FC236}">
                <a16:creationId xmlns:a16="http://schemas.microsoft.com/office/drawing/2014/main" id="{E511181F-34CB-7622-B3BD-FA82784309DF}"/>
              </a:ext>
            </a:extLst>
          </p:cNvPr>
          <p:cNvGraphicFramePr>
            <a:graphicFrameLocks noGrp="1"/>
          </p:cNvGraphicFramePr>
          <p:nvPr>
            <p:extLst>
              <p:ext uri="{D42A27DB-BD31-4B8C-83A1-F6EECF244321}">
                <p14:modId xmlns:p14="http://schemas.microsoft.com/office/powerpoint/2010/main" val="191652736"/>
              </p:ext>
            </p:extLst>
          </p:nvPr>
        </p:nvGraphicFramePr>
        <p:xfrm>
          <a:off x="468086" y="1144209"/>
          <a:ext cx="10813185" cy="5034280"/>
        </p:xfrm>
        <a:graphic>
          <a:graphicData uri="http://schemas.openxmlformats.org/drawingml/2006/table">
            <a:tbl>
              <a:tblPr firstRow="1" bandRow="1">
                <a:tableStyleId>{5C22544A-7EE6-4342-B048-85BDC9FD1C3A}</a:tableStyleId>
              </a:tblPr>
              <a:tblGrid>
                <a:gridCol w="2473418">
                  <a:extLst>
                    <a:ext uri="{9D8B030D-6E8A-4147-A177-3AD203B41FA5}">
                      <a16:colId xmlns:a16="http://schemas.microsoft.com/office/drawing/2014/main" val="555143759"/>
                    </a:ext>
                  </a:extLst>
                </a:gridCol>
                <a:gridCol w="5640636">
                  <a:extLst>
                    <a:ext uri="{9D8B030D-6E8A-4147-A177-3AD203B41FA5}">
                      <a16:colId xmlns:a16="http://schemas.microsoft.com/office/drawing/2014/main" val="2349788846"/>
                    </a:ext>
                  </a:extLst>
                </a:gridCol>
                <a:gridCol w="2699131">
                  <a:extLst>
                    <a:ext uri="{9D8B030D-6E8A-4147-A177-3AD203B41FA5}">
                      <a16:colId xmlns:a16="http://schemas.microsoft.com/office/drawing/2014/main" val="3423494171"/>
                    </a:ext>
                  </a:extLst>
                </a:gridCol>
              </a:tblGrid>
              <a:tr h="370840">
                <a:tc>
                  <a:txBody>
                    <a:bodyPr/>
                    <a:lstStyle/>
                    <a:p>
                      <a:r>
                        <a:rPr lang="en-US" sz="1200" dirty="0">
                          <a:solidFill>
                            <a:schemeClr val="tx1"/>
                          </a:solidFill>
                        </a:rPr>
                        <a:t>Description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How to Assess Activity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Risk Indicators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22688608"/>
                  </a:ext>
                </a:extLst>
              </a:tr>
              <a:tr h="370840">
                <a:tc>
                  <a:txBody>
                    <a:bodyPr/>
                    <a:lstStyle/>
                    <a:p>
                      <a:r>
                        <a:rPr lang="en-US" sz="1200" dirty="0">
                          <a:solidFill>
                            <a:schemeClr val="tx1"/>
                          </a:solidFill>
                        </a:rPr>
                        <a:t>Large loads onto the card. These are often loads from an external Bank accounts, transfers from a crypto/US Dollar wallet, transfers from other individuals, or from other external sources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dirty="0">
                          <a:solidFill>
                            <a:schemeClr val="tx1"/>
                          </a:solidFill>
                        </a:rPr>
                        <a:t>This activity tends to alert for large load activity followed by card spend. But regardless of why the account alerted (i.e., if the account alerted for only debit transactions), it is important to understand how cards/accounts are funded to help mitigate the alerted activity. Below are the steps that should be followed when assessing this activity:</a:t>
                      </a:r>
                    </a:p>
                    <a:p>
                      <a:endParaRPr lang="en-US" sz="1200" dirty="0">
                        <a:solidFill>
                          <a:schemeClr val="tx1"/>
                        </a:solidFill>
                      </a:endParaRPr>
                    </a:p>
                    <a:p>
                      <a:pPr marL="228600" indent="-228600">
                        <a:buAutoNum type="arabicPeriod"/>
                      </a:pPr>
                      <a:r>
                        <a:rPr lang="en-US" sz="1200" dirty="0">
                          <a:solidFill>
                            <a:schemeClr val="tx1"/>
                          </a:solidFill>
                        </a:rPr>
                        <a:t>Evaluate the volume of funding transactions to the account, does the overall value and frequency of activity appear reasonable given the period of time?</a:t>
                      </a:r>
                    </a:p>
                    <a:p>
                      <a:pPr marL="228600" indent="-228600">
                        <a:buAutoNum type="arabicPeriod"/>
                      </a:pPr>
                      <a:endParaRPr lang="en-US" sz="1200" dirty="0">
                        <a:solidFill>
                          <a:schemeClr val="tx1"/>
                        </a:solidFill>
                      </a:endParaRPr>
                    </a:p>
                    <a:p>
                      <a:pPr marL="228600" indent="-228600">
                        <a:buAutoNum type="arabicPeriod"/>
                      </a:pPr>
                      <a:r>
                        <a:rPr lang="en-US" sz="1200" dirty="0">
                          <a:solidFill>
                            <a:schemeClr val="tx1"/>
                          </a:solidFill>
                        </a:rPr>
                        <a:t>Do funding transactions appear to be conducted to fund specific transactions?</a:t>
                      </a:r>
                    </a:p>
                    <a:p>
                      <a:pPr marL="228600" indent="-228600">
                        <a:buAutoNum type="arabicPeriod"/>
                      </a:pPr>
                      <a:endParaRPr lang="en-US" sz="1200" dirty="0">
                        <a:solidFill>
                          <a:schemeClr val="tx1"/>
                        </a:solidFill>
                      </a:endParaRPr>
                    </a:p>
                    <a:p>
                      <a:pPr marL="228600" indent="-228600">
                        <a:buAutoNum type="arabicPeriod"/>
                      </a:pPr>
                      <a:r>
                        <a:rPr lang="en-US" sz="1200" dirty="0">
                          <a:solidFill>
                            <a:schemeClr val="tx1"/>
                          </a:solidFill>
                        </a:rPr>
                        <a:t>Can we determine the source of the funding (Note: data may be limited program to program). Credits for non-round dollar amounts could be direct deposits or payroll or proceeds from investments, which can be used as a mitigating factor for the activity</a:t>
                      </a:r>
                    </a:p>
                    <a:p>
                      <a:pPr marL="228600" indent="-228600">
                        <a:buAutoNum type="arabicPeriod"/>
                      </a:pPr>
                      <a:endParaRPr lang="en-US" sz="1200" dirty="0">
                        <a:solidFill>
                          <a:schemeClr val="tx1"/>
                        </a:solidFill>
                      </a:endParaRPr>
                    </a:p>
                    <a:p>
                      <a:pPr marL="228600" indent="-228600">
                        <a:buAutoNum type="arabicPeriod"/>
                      </a:pPr>
                      <a:r>
                        <a:rPr lang="en-US" sz="1200" dirty="0">
                          <a:solidFill>
                            <a:schemeClr val="tx1"/>
                          </a:solidFill>
                        </a:rPr>
                        <a:t>For these accounts, round dollar transactions are not necessarily suspicious, as customers must often “load” funds onto an account (which would be expected to be round-dollar)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The following are potential indicators of risks, that if cannot be mitigated by following the review steps in the column to the left, could warrant escalation:</a:t>
                      </a:r>
                    </a:p>
                    <a:p>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Frequent/Large loads with no apparent consistency in terms of timing (i.e., monthly) or value </a:t>
                      </a:r>
                    </a:p>
                    <a:p>
                      <a:pPr marL="0" indent="0">
                        <a:buFont typeface="Arial" panose="020B0604020202020204" pitchFamily="34" charset="0"/>
                        <a:buNone/>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Load activity appears to consistently funds activity that does not appear consistent with living expenses or other legitimate usage </a:t>
                      </a:r>
                    </a:p>
                    <a:p>
                      <a:pPr marL="171450" indent="-171450">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US" sz="1200" dirty="0">
                          <a:solidFill>
                            <a:schemeClr val="tx1"/>
                          </a:solidFill>
                        </a:rPr>
                        <a:t>Overall volume of loads are not consistent with a reasonable level of income   </a:t>
                      </a:r>
                    </a:p>
                    <a:p>
                      <a:pPr marL="171450" indent="-171450">
                        <a:buFont typeface="Arial" panose="020B0604020202020204" pitchFamily="34" charset="0"/>
                        <a:buChar char="•"/>
                      </a:pPr>
                      <a:endParaRPr lang="en-US" sz="1200" dirty="0">
                        <a:solidFill>
                          <a:schemeClr val="tx1"/>
                        </a:solidFill>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dirty="0">
                          <a:solidFill>
                            <a:schemeClr val="tx1"/>
                          </a:solidFill>
                        </a:rPr>
                        <a:t>Material negative news that indicates that the customer may derive their income from criminal/illegitimate means  </a:t>
                      </a:r>
                    </a:p>
                    <a:p>
                      <a:pPr marL="0" indent="0">
                        <a:buFont typeface="Arial" panose="020B0604020202020204" pitchFamily="34" charset="0"/>
                        <a:buNone/>
                      </a:pPr>
                      <a:endParaRPr lang="en-US"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66867960"/>
                  </a:ext>
                </a:extLst>
              </a:tr>
            </a:tbl>
          </a:graphicData>
        </a:graphic>
      </p:graphicFrame>
    </p:spTree>
    <p:extLst>
      <p:ext uri="{BB962C8B-B14F-4D97-AF65-F5344CB8AC3E}">
        <p14:creationId xmlns:p14="http://schemas.microsoft.com/office/powerpoint/2010/main" val="28917203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C64FB1-EB22-8CF3-E584-1E3CB4EC3E2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68013C1-9C11-6C1F-CF6A-C5459B26A083}"/>
              </a:ext>
            </a:extLst>
          </p:cNvPr>
          <p:cNvSpPr>
            <a:spLocks noGrp="1"/>
          </p:cNvSpPr>
          <p:nvPr>
            <p:ph type="title"/>
          </p:nvPr>
        </p:nvSpPr>
        <p:spPr>
          <a:xfrm>
            <a:off x="201254" y="306126"/>
            <a:ext cx="10905813" cy="385619"/>
          </a:xfrm>
        </p:spPr>
        <p:txBody>
          <a:bodyPr lIns="91440" tIns="45720" rIns="91440" bIns="45720" anchor="t"/>
          <a:lstStyle/>
          <a:p>
            <a:r>
              <a:rPr lang="en-US" sz="1900" b="1" dirty="0">
                <a:solidFill>
                  <a:schemeClr val="tx1"/>
                </a:solidFill>
                <a:latin typeface="Open Sans"/>
                <a:ea typeface="Open Sans"/>
                <a:cs typeface="Open Sans"/>
              </a:rPr>
              <a:t>Alert Narrative Expectations </a:t>
            </a:r>
            <a:endParaRPr lang="en-US" sz="1900" dirty="0">
              <a:solidFill>
                <a:schemeClr val="tx1"/>
              </a:solidFill>
              <a:latin typeface="Open Sans"/>
              <a:ea typeface="Open Sans"/>
              <a:cs typeface="Open Sans"/>
            </a:endParaRPr>
          </a:p>
        </p:txBody>
      </p:sp>
      <p:sp>
        <p:nvSpPr>
          <p:cNvPr id="2" name="TextBox 1">
            <a:extLst>
              <a:ext uri="{FF2B5EF4-FFF2-40B4-BE49-F238E27FC236}">
                <a16:creationId xmlns:a16="http://schemas.microsoft.com/office/drawing/2014/main" id="{98F7CDB3-7267-CD15-4C02-E6DFDE7BC37C}"/>
              </a:ext>
            </a:extLst>
          </p:cNvPr>
          <p:cNvSpPr txBox="1"/>
          <p:nvPr/>
        </p:nvSpPr>
        <p:spPr>
          <a:xfrm>
            <a:off x="443979" y="794302"/>
            <a:ext cx="11040450" cy="5016758"/>
          </a:xfrm>
          <a:prstGeom prst="rect">
            <a:avLst/>
          </a:prstGeom>
          <a:noFill/>
        </p:spPr>
        <p:txBody>
          <a:bodyPr wrap="square" rtlCol="0">
            <a:spAutoFit/>
          </a:bodyPr>
          <a:lstStyle/>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Analyst are expected to fully document the specific mitigating factors observed to clear the activity, or the specific factors driving the reason for Escalation and/or RFI</a:t>
            </a:r>
          </a:p>
          <a:p>
            <a:pPr>
              <a:spcBef>
                <a:spcPts val="600"/>
              </a:spcBef>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Below is an Example of an Alert Narrative Write-up to clear ATM withdrawal activity </a:t>
            </a:r>
            <a:r>
              <a:rPr lang="en-US" sz="1500" b="1" dirty="0">
                <a:latin typeface="Open Sans" panose="020B0606030504020204" pitchFamily="34" charset="0"/>
                <a:ea typeface="Open Sans" panose="020B0606030504020204" pitchFamily="34" charset="0"/>
                <a:cs typeface="Open Sans" panose="020B0606030504020204" pitchFamily="34" charset="0"/>
              </a:rPr>
              <a:t>that is not sufficient or acceptable:</a:t>
            </a:r>
          </a:p>
          <a:p>
            <a:pPr>
              <a:spcBef>
                <a:spcPts val="600"/>
              </a:spcBef>
            </a:pPr>
            <a:endParaRPr lang="en-US" sz="1500" b="1" dirty="0">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The ATM withdrawal activity appears within the Focal Entity’s financial means, and based on this, and the fact that there are no other red flag patters or high-risk indicators, an escalation is not warranted.</a:t>
            </a:r>
          </a:p>
          <a:p>
            <a:pPr>
              <a:spcBef>
                <a:spcPts val="600"/>
              </a:spcBef>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This is an example of am Alert Narrative write-up that is more in-line with expectations, as it more clearly delineates the specific mitigating factors observed:</a:t>
            </a:r>
          </a:p>
          <a:p>
            <a:pPr>
              <a:spcBef>
                <a:spcPts val="600"/>
              </a:spcBef>
            </a:pPr>
            <a:endParaRPr lang="en-US" sz="1500" dirty="0">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r>
              <a:rPr lang="en-US" sz="1500" dirty="0">
                <a:latin typeface="Open Sans" panose="020B0606030504020204" pitchFamily="34" charset="0"/>
                <a:ea typeface="Open Sans" panose="020B0606030504020204" pitchFamily="34" charset="0"/>
                <a:cs typeface="Open Sans" panose="020B0606030504020204" pitchFamily="34" charset="0"/>
              </a:rPr>
              <a:t>The alerted ATM withdrawal activity appears reasonable as it appears the Focal Entity conducted to withdrawals to support expenses while traveling. This conclusion is based on the fact that there does not appear to be significant ATM withdrawal activity outside of the alerted transactions, the fact that the alerted ATM withdrawals were funded by credit activity that appears to be within the Focal Entity's means, and the fact there were POS transactions observed occurring near the same location of the ATM withdrawals.  </a:t>
            </a:r>
          </a:p>
          <a:p>
            <a:pPr>
              <a:spcBef>
                <a:spcPts val="600"/>
              </a:spcBef>
            </a:pPr>
            <a:endParaRPr lang="en-US" sz="1500" b="1" dirty="0">
              <a:latin typeface="Open Sans" panose="020B0606030504020204" pitchFamily="34" charset="0"/>
              <a:ea typeface="Open Sans" panose="020B0606030504020204" pitchFamily="34" charset="0"/>
              <a:cs typeface="Open Sans" panose="020B0606030504020204" pitchFamily="34" charset="0"/>
            </a:endParaRPr>
          </a:p>
          <a:p>
            <a:pPr>
              <a:spcBef>
                <a:spcPts val="600"/>
              </a:spcBef>
            </a:pPr>
            <a:endParaRPr lang="en-US" sz="15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812977058"/>
      </p:ext>
    </p:extLst>
  </p:cSld>
  <p:clrMapOvr>
    <a:masterClrMapping/>
  </p:clrMapOvr>
</p:sld>
</file>

<file path=ppt/theme/theme1.xml><?xml version="1.0" encoding="utf-8"?>
<a:theme xmlns:a="http://schemas.openxmlformats.org/drawingml/2006/main" name="Template 1">
  <a:themeElements>
    <a:clrScheme name="SMBC MVG">
      <a:dk1>
        <a:srgbClr val="000000"/>
      </a:dk1>
      <a:lt1>
        <a:srgbClr val="FFFFFF"/>
      </a:lt1>
      <a:dk2>
        <a:srgbClr val="344972"/>
      </a:dk2>
      <a:lt2>
        <a:srgbClr val="E4EAE8"/>
      </a:lt2>
      <a:accent1>
        <a:srgbClr val="7A988D"/>
      </a:accent1>
      <a:accent2>
        <a:srgbClr val="D7D5CE"/>
      </a:accent2>
      <a:accent3>
        <a:srgbClr val="9B845A"/>
      </a:accent3>
      <a:accent4>
        <a:srgbClr val="DDBD6E"/>
      </a:accent4>
      <a:accent5>
        <a:srgbClr val="317589"/>
      </a:accent5>
      <a:accent6>
        <a:srgbClr val="7F7F7F"/>
      </a:accent6>
      <a:hlink>
        <a:srgbClr val="67AABF"/>
      </a:hlink>
      <a:folHlink>
        <a:srgbClr val="B1B5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plate 2">
  <a:themeElements>
    <a:clrScheme name="SMBC MVG">
      <a:dk1>
        <a:srgbClr val="000000"/>
      </a:dk1>
      <a:lt1>
        <a:srgbClr val="FFFFFF"/>
      </a:lt1>
      <a:dk2>
        <a:srgbClr val="344972"/>
      </a:dk2>
      <a:lt2>
        <a:srgbClr val="E4EAE8"/>
      </a:lt2>
      <a:accent1>
        <a:srgbClr val="7A988D"/>
      </a:accent1>
      <a:accent2>
        <a:srgbClr val="D7D5CE"/>
      </a:accent2>
      <a:accent3>
        <a:srgbClr val="9B845A"/>
      </a:accent3>
      <a:accent4>
        <a:srgbClr val="DDBD6E"/>
      </a:accent4>
      <a:accent5>
        <a:srgbClr val="317589"/>
      </a:accent5>
      <a:accent6>
        <a:srgbClr val="7F7F7F"/>
      </a:accent6>
      <a:hlink>
        <a:srgbClr val="67AABF"/>
      </a:hlink>
      <a:folHlink>
        <a:srgbClr val="B1B5AB"/>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bb66ea15-9455-4440-b903-2e1b8dbf1860"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3EDC767E1B584441B73227361486D9A8" ma:contentTypeVersion="8" ma:contentTypeDescription="Create a new document." ma:contentTypeScope="" ma:versionID="e2e98d55a41fabd92b7ab0d1239121ef">
  <xsd:schema xmlns:xsd="http://www.w3.org/2001/XMLSchema" xmlns:xs="http://www.w3.org/2001/XMLSchema" xmlns:p="http://schemas.microsoft.com/office/2006/metadata/properties" xmlns:ns3="bb66ea15-9455-4440-b903-2e1b8dbf1860" xmlns:ns4="b36c84b9-d09d-40ef-87e3-6f0174562603" targetNamespace="http://schemas.microsoft.com/office/2006/metadata/properties" ma:root="true" ma:fieldsID="27d226f9c62704fce56a288987a5240e" ns3:_="" ns4:_="">
    <xsd:import namespace="bb66ea15-9455-4440-b903-2e1b8dbf1860"/>
    <xsd:import namespace="b36c84b9-d09d-40ef-87e3-6f0174562603"/>
    <xsd:element name="properties">
      <xsd:complexType>
        <xsd:sequence>
          <xsd:element name="documentManagement">
            <xsd:complexType>
              <xsd:all>
                <xsd:element ref="ns3:MediaServiceMetadata" minOccurs="0"/>
                <xsd:element ref="ns3:MediaServiceFastMetadata" minOccurs="0"/>
                <xsd:element ref="ns3:MediaServiceObjectDetectorVersions" minOccurs="0"/>
                <xsd:element ref="ns3:_activity" minOccurs="0"/>
                <xsd:element ref="ns4:SharedWithUsers" minOccurs="0"/>
                <xsd:element ref="ns4:SharedWithDetails" minOccurs="0"/>
                <xsd:element ref="ns4:SharingHintHash"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b66ea15-9455-4440-b903-2e1b8dbf18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_activity" ma:index="11" nillable="true" ma:displayName="_activity" ma:hidden="true" ma:internalName="_activity">
      <xsd:simpleType>
        <xsd:restriction base="dms:Note"/>
      </xsd:simpleType>
    </xsd:element>
    <xsd:element name="MediaServiceSearchProperties" ma:index="1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36c84b9-d09d-40ef-87e3-6f0174562603"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SharingHintHash" ma:index="14"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B52C832-A50D-448D-864E-C8AB1083699E}">
  <ds:schemaRefs>
    <ds:schemaRef ds:uri="bb66ea15-9455-4440-b903-2e1b8dbf1860"/>
    <ds:schemaRef ds:uri="http://purl.org/dc/elements/1.1/"/>
    <ds:schemaRef ds:uri="http://schemas.microsoft.com/office/2006/documentManagement/types"/>
    <ds:schemaRef ds:uri="b36c84b9-d09d-40ef-87e3-6f0174562603"/>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 ds:uri="http://purl.org/dc/dcmitype/"/>
    <ds:schemaRef ds:uri="http://purl.org/dc/terms/"/>
  </ds:schemaRefs>
</ds:datastoreItem>
</file>

<file path=customXml/itemProps2.xml><?xml version="1.0" encoding="utf-8"?>
<ds:datastoreItem xmlns:ds="http://schemas.openxmlformats.org/officeDocument/2006/customXml" ds:itemID="{8BCCF4B8-0759-4D0E-87DF-C167356BE66E}">
  <ds:schemaRefs>
    <ds:schemaRef ds:uri="b36c84b9-d09d-40ef-87e3-6f0174562603"/>
    <ds:schemaRef ds:uri="bb66ea15-9455-4440-b903-2e1b8dbf186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0C9E89E4-A6E0-42C6-9769-8B680F8E3996}">
  <ds:schemaRefs>
    <ds:schemaRef ds:uri="http://schemas.microsoft.com/sharepoint/v3/contenttype/forms"/>
  </ds:schemaRefs>
</ds:datastoreItem>
</file>

<file path=docMetadata/LabelInfo.xml><?xml version="1.0" encoding="utf-8"?>
<clbl:labelList xmlns:clbl="http://schemas.microsoft.com/office/2020/mipLabelMetadata">
  <clbl:label id="{ea60d57e-af5b-4752-ac57-3e4f28ca11dc}" enabled="1" method="Standard" siteId="{36da45f1-dd2c-4d1f-af13-5abe46b99921}" removed="0"/>
</clbl:labelList>
</file>

<file path=docProps/app.xml><?xml version="1.0" encoding="utf-8"?>
<Properties xmlns="http://schemas.openxmlformats.org/officeDocument/2006/extended-properties" xmlns:vt="http://schemas.openxmlformats.org/officeDocument/2006/docPropsVTypes">
  <Template/>
  <TotalTime>3284</TotalTime>
  <Words>4058</Words>
  <Application>Microsoft Office PowerPoint</Application>
  <PresentationFormat>Widescreen</PresentationFormat>
  <Paragraphs>173</Paragraphs>
  <Slides>10</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10</vt:i4>
      </vt:variant>
    </vt:vector>
  </HeadingPairs>
  <TitlesOfParts>
    <vt:vector size="17" baseType="lpstr">
      <vt:lpstr>Arial</vt:lpstr>
      <vt:lpstr>Calibri</vt:lpstr>
      <vt:lpstr>Courier New</vt:lpstr>
      <vt:lpstr>Open Sans</vt:lpstr>
      <vt:lpstr>Wingdings</vt:lpstr>
      <vt:lpstr>Template 1</vt:lpstr>
      <vt:lpstr>Template 2</vt:lpstr>
      <vt:lpstr>Guidelines for Reviewing “Card” Account Alerts</vt:lpstr>
      <vt:lpstr>“Card Account” Overview </vt:lpstr>
      <vt:lpstr>Common Transaction Patterns and Review Guidelines-Large POS Transaction(s) (1of 2) </vt:lpstr>
      <vt:lpstr>Common Transaction Patterns and Review Guidelines-Large POS Transaction(s) (2 of 2) </vt:lpstr>
      <vt:lpstr>Common Transaction Patterns and Review Guidelines-Frequent POS(s) Transactions (1 of 2) </vt:lpstr>
      <vt:lpstr>Common Transaction Patterns and Review Guidelines-Frequent POS(s) Transactions (2 of 2) </vt:lpstr>
      <vt:lpstr>Common Transaction Patterns and Review Guidelines-ATM Withdrawals </vt:lpstr>
      <vt:lpstr>Common Transaction Patterns and Review Guidelines-Large Cash Withdrawal(s) </vt:lpstr>
      <vt:lpstr>Common Transaction Patterns and Review Guidelines-Large Loads onto the Card </vt:lpstr>
      <vt:lpstr>Alert Narrative Expectations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here up to three lines  Arial Regular 26 pt.  use one cover only</dc:title>
  <dc:creator>Siho Ellsmore</dc:creator>
  <cp:lastModifiedBy>Oliver, Zachary</cp:lastModifiedBy>
  <cp:revision>21</cp:revision>
  <cp:lastPrinted>2022-04-20T13:28:00Z</cp:lastPrinted>
  <dcterms:created xsi:type="dcterms:W3CDTF">2018-05-29T20:04:28Z</dcterms:created>
  <dcterms:modified xsi:type="dcterms:W3CDTF">2026-10-05T00:02:12Z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0x0101003EDC767E1B584441B73227361486D9A8</vt:lpwstr>
  </property>
  <property fmtid="{D5CDD505-2E9C-101B-9397-08002B2CF9AE}" pid="3" name="_dlc_policyId">
    <vt:lpwstr>0x010100038F8B96A3371A4496CF6E631B0ABC0D|1741262249</vt:lpwstr>
  </property>
  <property fmtid="{D5CDD505-2E9C-101B-9397-08002B2CF9AE}" pid="4" name="ItemRetentionFormula">
    <vt:lpwstr>&lt;formula id="Microsoft.Office.RecordsManagement.PolicyFeatures.Expiration.Formula.BuiltIn"&gt;&lt;number&gt;50&lt;/number&gt;&lt;property&gt;Modified&lt;/property&gt;&lt;propertyId&gt;28cf69c5-fa48-462a-b5cd-27b6f9d2bd5f&lt;/propertyId&gt;&lt;period&gt;years&lt;/period&gt;&lt;/formula&gt;</vt:lpwstr>
  </property>
  <property fmtid="{D5CDD505-2E9C-101B-9397-08002B2CF9AE}" pid="5" name="MSIP_Label_ea60d57e-af5b-4752-ac57-3e4f28ca11dc_Enabled">
    <vt:lpwstr>true</vt:lpwstr>
  </property>
  <property fmtid="{D5CDD505-2E9C-101B-9397-08002B2CF9AE}" pid="6" name="MSIP_Label_ea60d57e-af5b-4752-ac57-3e4f28ca11dc_SetDate">
    <vt:lpwstr>2022-05-20T15:46:02Z</vt:lpwstr>
  </property>
  <property fmtid="{D5CDD505-2E9C-101B-9397-08002B2CF9AE}" pid="7" name="MSIP_Label_ea60d57e-af5b-4752-ac57-3e4f28ca11dc_Method">
    <vt:lpwstr>Standard</vt:lpwstr>
  </property>
  <property fmtid="{D5CDD505-2E9C-101B-9397-08002B2CF9AE}" pid="8" name="MSIP_Label_ea60d57e-af5b-4752-ac57-3e4f28ca11dc_Name">
    <vt:lpwstr>ea60d57e-af5b-4752-ac57-3e4f28ca11dc</vt:lpwstr>
  </property>
  <property fmtid="{D5CDD505-2E9C-101B-9397-08002B2CF9AE}" pid="9" name="MSIP_Label_ea60d57e-af5b-4752-ac57-3e4f28ca11dc_SiteId">
    <vt:lpwstr>36da45f1-dd2c-4d1f-af13-5abe46b99921</vt:lpwstr>
  </property>
  <property fmtid="{D5CDD505-2E9C-101B-9397-08002B2CF9AE}" pid="10" name="MSIP_Label_ea60d57e-af5b-4752-ac57-3e4f28ca11dc_ActionId">
    <vt:lpwstr>4e49a5a7-9432-498c-bebd-44219e8cf069</vt:lpwstr>
  </property>
  <property fmtid="{D5CDD505-2E9C-101B-9397-08002B2CF9AE}" pid="11" name="MSIP_Label_ea60d57e-af5b-4752-ac57-3e4f28ca11dc_ContentBits">
    <vt:lpwstr>0</vt:lpwstr>
  </property>
  <property fmtid="{D5CDD505-2E9C-101B-9397-08002B2CF9AE}" pid="12" name="MediaServiceImageTags">
    <vt:lpwstr/>
  </property>
</Properties>
</file>